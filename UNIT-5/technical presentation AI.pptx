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9" r:id="rId11"/>
    <p:sldId id="268" r:id="rId12"/>
    <p:sldId id="266" r:id="rId13"/>
    <p:sldId id="267" r:id="rId14"/>
    <p:sldId id="270" r:id="rId1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78" d="100"/>
          <a:sy n="78" d="100"/>
        </p:scale>
        <p:origin x="192" y="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752334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12114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282929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686850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850624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6.png"/><Relationship Id="rId7" Type="http://schemas.openxmlformats.org/officeDocument/2006/relationships/image" Target="../media/image1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Relationship Id="rId9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image" Target="../media/image19.png"/><Relationship Id="rId7" Type="http://schemas.openxmlformats.org/officeDocument/2006/relationships/image" Target="../media/image2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11.png"/><Relationship Id="rId4" Type="http://schemas.openxmlformats.org/officeDocument/2006/relationships/image" Target="../media/image1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17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png"/><Relationship Id="rId3" Type="http://schemas.openxmlformats.org/officeDocument/2006/relationships/image" Target="../media/image24.png"/><Relationship Id="rId7" Type="http://schemas.openxmlformats.org/officeDocument/2006/relationships/image" Target="../media/image2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17.png"/><Relationship Id="rId9" Type="http://schemas.openxmlformats.org/officeDocument/2006/relationships/image" Target="../media/image1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7" Type="http://schemas.openxmlformats.org/officeDocument/2006/relationships/image" Target="../media/image3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3.png"/><Relationship Id="rId7" Type="http://schemas.openxmlformats.org/officeDocument/2006/relationships/image" Target="../media/image3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4.png"/><Relationship Id="rId5" Type="http://schemas.openxmlformats.org/officeDocument/2006/relationships/image" Target="../media/image11.png"/><Relationship Id="rId4" Type="http://schemas.openxmlformats.org/officeDocument/2006/relationships/image" Target="../media/image21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9.png"/><Relationship Id="rId3" Type="http://schemas.openxmlformats.org/officeDocument/2006/relationships/image" Target="../media/image36.png"/><Relationship Id="rId7" Type="http://schemas.openxmlformats.org/officeDocument/2006/relationships/image" Target="../media/image3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7.png"/><Relationship Id="rId5" Type="http://schemas.openxmlformats.org/officeDocument/2006/relationships/image" Target="../media/image1.png"/><Relationship Id="rId4" Type="http://schemas.openxmlformats.org/officeDocument/2006/relationships/image" Target="../media/image19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4.png"/><Relationship Id="rId3" Type="http://schemas.openxmlformats.org/officeDocument/2006/relationships/image" Target="../media/image40.png"/><Relationship Id="rId7" Type="http://schemas.openxmlformats.org/officeDocument/2006/relationships/image" Target="../media/image4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2.png"/><Relationship Id="rId5" Type="http://schemas.openxmlformats.org/officeDocument/2006/relationships/image" Target="../media/image17.png"/><Relationship Id="rId4" Type="http://schemas.openxmlformats.org/officeDocument/2006/relationships/image" Target="../media/image4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6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024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1645920"/>
            <a:ext cx="5029200" cy="5029200"/>
          </a:xfrm>
          <a:prstGeom prst="ellipse">
            <a:avLst/>
          </a:prstGeom>
          <a:solidFill>
            <a:srgbClr val="16324F"/>
          </a:solidFill>
          <a:ln/>
        </p:spPr>
      </p:sp>
      <p:sp>
        <p:nvSpPr>
          <p:cNvPr id="3" name="Shape 1"/>
          <p:cNvSpPr/>
          <p:nvPr/>
        </p:nvSpPr>
        <p:spPr>
          <a:xfrm>
            <a:off x="9692640" y="-548640"/>
            <a:ext cx="2926080" cy="292608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4" name="Shape 2"/>
          <p:cNvSpPr/>
          <p:nvPr/>
        </p:nvSpPr>
        <p:spPr>
          <a:xfrm>
            <a:off x="-1280160" y="4572000"/>
            <a:ext cx="3291840" cy="329184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5" name="Shape 3"/>
          <p:cNvSpPr/>
          <p:nvPr/>
        </p:nvSpPr>
        <p:spPr>
          <a:xfrm>
            <a:off x="1165860" y="1348740"/>
            <a:ext cx="1051560" cy="1051560"/>
          </a:xfrm>
          <a:prstGeom prst="ellipse">
            <a:avLst/>
          </a:prstGeom>
          <a:solidFill>
            <a:srgbClr val="3FE1C0"/>
          </a:solidFill>
          <a:ln/>
        </p:spPr>
      </p:sp>
      <p:pic>
        <p:nvPicPr>
          <p:cNvPr id="6" name="Image 0" descr="icons/chip_nav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13078" y="1495958"/>
            <a:ext cx="757123" cy="757123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22960" y="26974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3FE1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CONTROL SYSTEMS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777240" y="3063240"/>
            <a:ext cx="96012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5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AI-Powered</a:t>
            </a:r>
            <a:endParaRPr lang="en-US" sz="4600" dirty="0"/>
          </a:p>
          <a:p>
            <a:pPr marL="0" indent="0">
              <a:lnSpc>
                <a:spcPts val="5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Smart Controllers</a:t>
            </a:r>
            <a:endParaRPr lang="en-US" sz="4600" dirty="0"/>
          </a:p>
        </p:txBody>
      </p:sp>
      <p:sp>
        <p:nvSpPr>
          <p:cNvPr id="9" name="Text 6"/>
          <p:cNvSpPr/>
          <p:nvPr/>
        </p:nvSpPr>
        <p:spPr>
          <a:xfrm>
            <a:off x="822960" y="4983480"/>
            <a:ext cx="8961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Mechanical Switches to Intelligent, Learning-Driven Control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841248" y="5623560"/>
            <a:ext cx="1280160" cy="0"/>
          </a:xfrm>
          <a:prstGeom prst="line">
            <a:avLst/>
          </a:prstGeom>
          <a:noFill/>
          <a:ln w="31750">
            <a:solidFill>
              <a:srgbClr val="3FE1C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22960" y="58064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FB7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Sensors  ·  Data  ·  Artificial Intelligence  ·  Actuation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3FE1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&amp; EVOLUTION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30352" y="566928"/>
            <a:ext cx="11155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024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Mechanical Switches to Intelligent Control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kern="0" spc="15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EVOLUTION OF TRADITIONAL CONTROLLERS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548640" y="2011680"/>
            <a:ext cx="3520440" cy="2148840"/>
          </a:xfrm>
          <a:prstGeom prst="roundRect">
            <a:avLst>
              <a:gd name="adj" fmla="val 5106"/>
            </a:avLst>
          </a:prstGeom>
          <a:solidFill>
            <a:srgbClr val="FFFFFF"/>
          </a:solidFill>
          <a:ln/>
          <a:effectLst>
            <a:outerShdw blurRad="101600" dist="25400" dir="5400000" algn="bl" rotWithShape="0">
              <a:srgbClr val="1C2B3A">
                <a:alpha val="1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27532" y="2217420"/>
            <a:ext cx="685800" cy="68580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7" name="Image 0" descr="icons/toggle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3544" y="2313432"/>
            <a:ext cx="493776" cy="49377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691640" y="2231136"/>
            <a:ext cx="214884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1024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Manual Control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804672" y="3063240"/>
            <a:ext cx="3008376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C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Human-operated switches and mechanical linkages — direct physical intervention required.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4087368" y="2788920"/>
            <a:ext cx="29260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3FE1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1" name="Shape 8"/>
          <p:cNvSpPr/>
          <p:nvPr/>
        </p:nvSpPr>
        <p:spPr>
          <a:xfrm>
            <a:off x="4389120" y="2011680"/>
            <a:ext cx="3520440" cy="2148840"/>
          </a:xfrm>
          <a:prstGeom prst="roundRect">
            <a:avLst>
              <a:gd name="adj" fmla="val 5106"/>
            </a:avLst>
          </a:prstGeom>
          <a:solidFill>
            <a:srgbClr val="FFFFFF"/>
          </a:solidFill>
          <a:ln/>
          <a:effectLst>
            <a:outerShdw blurRad="101600" dist="25400" dir="5400000" algn="bl" rotWithShape="0">
              <a:srgbClr val="1C2B3A">
                <a:alpha val="15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668012" y="2217420"/>
            <a:ext cx="685800" cy="68580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3" name="Image 1" descr="icons/power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64024" y="2313432"/>
            <a:ext cx="493776" cy="493776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532120" y="2231136"/>
            <a:ext cx="214884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1024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On/Off (Bang-Bang) Control</a:t>
            </a:r>
            <a:endParaRPr lang="en-US" sz="1350" dirty="0"/>
          </a:p>
        </p:txBody>
      </p:sp>
      <p:sp>
        <p:nvSpPr>
          <p:cNvPr id="15" name="Text 11"/>
          <p:cNvSpPr/>
          <p:nvPr/>
        </p:nvSpPr>
        <p:spPr>
          <a:xfrm>
            <a:off x="4645152" y="3063240"/>
            <a:ext cx="3008376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C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 thresholds, as in traditional thermostats — causes high overshoot and wasted energy.</a:t>
            </a:r>
            <a:endParaRPr lang="en-US" sz="1050" dirty="0"/>
          </a:p>
        </p:txBody>
      </p:sp>
      <p:sp>
        <p:nvSpPr>
          <p:cNvPr id="16" name="Text 12"/>
          <p:cNvSpPr/>
          <p:nvPr/>
        </p:nvSpPr>
        <p:spPr>
          <a:xfrm>
            <a:off x="7927848" y="2788920"/>
            <a:ext cx="29260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3FE1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7" name="Shape 13"/>
          <p:cNvSpPr/>
          <p:nvPr/>
        </p:nvSpPr>
        <p:spPr>
          <a:xfrm>
            <a:off x="8229600" y="2011680"/>
            <a:ext cx="3520440" cy="2148840"/>
          </a:xfrm>
          <a:prstGeom prst="roundRect">
            <a:avLst>
              <a:gd name="adj" fmla="val 5106"/>
            </a:avLst>
          </a:prstGeom>
          <a:solidFill>
            <a:srgbClr val="FFFFFF"/>
          </a:solidFill>
          <a:ln/>
          <a:effectLst>
            <a:outerShdw blurRad="101600" dist="25400" dir="5400000" algn="bl" rotWithShape="0">
              <a:srgbClr val="1C2B3A">
                <a:alpha val="15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8508492" y="2217420"/>
            <a:ext cx="685800" cy="68580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9" name="Image 2" descr="icons/wave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04504" y="2313432"/>
            <a:ext cx="493776" cy="493776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9372600" y="2231136"/>
            <a:ext cx="214884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1024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PID Control</a:t>
            </a:r>
            <a:endParaRPr lang="en-US" sz="1350" dirty="0"/>
          </a:p>
        </p:txBody>
      </p:sp>
      <p:sp>
        <p:nvSpPr>
          <p:cNvPr id="21" name="Text 16"/>
          <p:cNvSpPr/>
          <p:nvPr/>
        </p:nvSpPr>
        <p:spPr>
          <a:xfrm>
            <a:off x="8485632" y="3063240"/>
            <a:ext cx="3008376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C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Proportional-Integral-Derivative: the feedback benchmark, but struggles with non-linear, dynamic, unpredictable environments.</a:t>
            </a:r>
            <a:endParaRPr lang="en-US" sz="1050" dirty="0"/>
          </a:p>
        </p:txBody>
      </p:sp>
      <p:sp>
        <p:nvSpPr>
          <p:cNvPr id="22" name="Shape 17"/>
          <p:cNvSpPr/>
          <p:nvPr/>
        </p:nvSpPr>
        <p:spPr>
          <a:xfrm>
            <a:off x="548640" y="4434840"/>
            <a:ext cx="11064240" cy="1691640"/>
          </a:xfrm>
          <a:prstGeom prst="roundRect">
            <a:avLst>
              <a:gd name="adj" fmla="val 7568"/>
            </a:avLst>
          </a:prstGeom>
          <a:solidFill>
            <a:srgbClr val="10243E"/>
          </a:solidFill>
          <a:ln/>
        </p:spPr>
      </p:sp>
      <p:sp>
        <p:nvSpPr>
          <p:cNvPr id="23" name="Shape 18"/>
          <p:cNvSpPr/>
          <p:nvPr/>
        </p:nvSpPr>
        <p:spPr>
          <a:xfrm>
            <a:off x="914400" y="4828032"/>
            <a:ext cx="914400" cy="914400"/>
          </a:xfrm>
          <a:prstGeom prst="ellipse">
            <a:avLst/>
          </a:prstGeom>
          <a:solidFill>
            <a:srgbClr val="3FE1C0"/>
          </a:solidFill>
          <a:ln/>
        </p:spPr>
      </p:sp>
      <p:pic>
        <p:nvPicPr>
          <p:cNvPr id="24" name="Image 3" descr="icons/bulb_navy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42416" y="4956048"/>
            <a:ext cx="658368" cy="658368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2057400" y="4645152"/>
            <a:ext cx="9052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Need for Intelligent Control</a:t>
            </a:r>
            <a:endParaRPr lang="en-US" sz="1700" dirty="0"/>
          </a:p>
        </p:txBody>
      </p:sp>
      <p:sp>
        <p:nvSpPr>
          <p:cNvPr id="26" name="Text 20"/>
          <p:cNvSpPr/>
          <p:nvPr/>
        </p:nvSpPr>
        <p:spPr>
          <a:xfrm>
            <a:off x="2057400" y="5074920"/>
            <a:ext cx="90982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Modern systems are non-linear, multi-variable, and subject to real-time external dynamic disturbances.</a:t>
            </a:r>
            <a:endParaRPr lang="en-US" sz="1200" dirty="0"/>
          </a:p>
          <a:p>
            <a:pPr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control loops require continuous manual tuning and cannot adapt to parameter drift or unexpected operational changes.</a:t>
            </a:r>
            <a:endParaRPr lang="en-US" sz="1200" dirty="0"/>
          </a:p>
        </p:txBody>
      </p:sp>
      <p:sp>
        <p:nvSpPr>
          <p:cNvPr id="27" name="Text 21"/>
          <p:cNvSpPr/>
          <p:nvPr/>
        </p:nvSpPr>
        <p:spPr>
          <a:xfrm>
            <a:off x="11274552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3FE1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30352" y="566928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024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a Smart Controller?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170432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5C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Defining Automation Beyond Fixed Rules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11064240" cy="932688"/>
          </a:xfrm>
          <a:prstGeom prst="roundRect">
            <a:avLst>
              <a:gd name="adj" fmla="val 11765"/>
            </a:avLst>
          </a:prstGeom>
          <a:solidFill>
            <a:srgbClr val="10243E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1691640"/>
            <a:ext cx="10424160" cy="932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5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smart controller is a digital control device that uses microprocessors and sensor feedback to automatically monitor conditions and regulate physical processes based on pre-programmed logic or simple adaptive algorithms.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548640" y="27889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 WORKING PRINCIPLE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94360" y="3200400"/>
            <a:ext cx="914400" cy="91440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9" name="Image 0" descr="icons/satellite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2376" y="3328416"/>
            <a:ext cx="658368" cy="658368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600200" y="3291840"/>
            <a:ext cx="1508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1024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Sense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3154680" y="3474720"/>
            <a:ext cx="2560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3FE1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3456432" y="3200400"/>
            <a:ext cx="914400" cy="91440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3" name="Image 1" descr="icons/bullseye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84448" y="3328416"/>
            <a:ext cx="658368" cy="65836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4462272" y="3291840"/>
            <a:ext cx="1508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1024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with</a:t>
            </a:r>
            <a:endParaRPr lang="en-US" sz="12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1024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Setpoint</a:t>
            </a:r>
            <a:endParaRPr lang="en-US" sz="1200" dirty="0"/>
          </a:p>
        </p:txBody>
      </p:sp>
      <p:sp>
        <p:nvSpPr>
          <p:cNvPr id="15" name="Text 11"/>
          <p:cNvSpPr/>
          <p:nvPr/>
        </p:nvSpPr>
        <p:spPr>
          <a:xfrm>
            <a:off x="6016752" y="3474720"/>
            <a:ext cx="2560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3FE1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6" name="Shape 12"/>
          <p:cNvSpPr/>
          <p:nvPr/>
        </p:nvSpPr>
        <p:spPr>
          <a:xfrm>
            <a:off x="6318504" y="3200400"/>
            <a:ext cx="914400" cy="91440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7" name="Image 2" descr="icons/chartarea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46520" y="3328416"/>
            <a:ext cx="658368" cy="658368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7324344" y="3291840"/>
            <a:ext cx="1508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1024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Error</a:t>
            </a:r>
            <a:endParaRPr lang="en-US" sz="1200" dirty="0"/>
          </a:p>
        </p:txBody>
      </p:sp>
      <p:sp>
        <p:nvSpPr>
          <p:cNvPr id="19" name="Text 14"/>
          <p:cNvSpPr/>
          <p:nvPr/>
        </p:nvSpPr>
        <p:spPr>
          <a:xfrm>
            <a:off x="8878824" y="3474720"/>
            <a:ext cx="2560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3FE1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20" name="Shape 15"/>
          <p:cNvSpPr/>
          <p:nvPr/>
        </p:nvSpPr>
        <p:spPr>
          <a:xfrm>
            <a:off x="9180576" y="3200400"/>
            <a:ext cx="914400" cy="914400"/>
          </a:xfrm>
          <a:prstGeom prst="ellipse">
            <a:avLst/>
          </a:prstGeom>
          <a:solidFill>
            <a:srgbClr val="3FE1C0"/>
          </a:solidFill>
          <a:ln/>
        </p:spPr>
      </p:sp>
      <p:pic>
        <p:nvPicPr>
          <p:cNvPr id="21" name="Image 3" descr="icons/sliders_navy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08592" y="3328416"/>
            <a:ext cx="658368" cy="658368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0186416" y="3291840"/>
            <a:ext cx="1508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1024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Execute</a:t>
            </a:r>
            <a:endParaRPr lang="en-US" sz="12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1024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Actuation</a:t>
            </a:r>
            <a:endParaRPr lang="en-US" sz="1200" dirty="0"/>
          </a:p>
        </p:txBody>
      </p:sp>
      <p:sp>
        <p:nvSpPr>
          <p:cNvPr id="23" name="Text 17"/>
          <p:cNvSpPr/>
          <p:nvPr/>
        </p:nvSpPr>
        <p:spPr>
          <a:xfrm>
            <a:off x="548640" y="43434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 VS. INTELLIGENT CONTROL</a:t>
            </a:r>
            <a:endParaRPr lang="en-US" sz="1100" dirty="0"/>
          </a:p>
        </p:txBody>
      </p:sp>
      <p:graphicFrame>
        <p:nvGraphicFramePr>
          <p:cNvPr id="2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4663440"/>
          <a:ext cx="11064240" cy="1691640"/>
        </p:xfrm>
        <a:graphic>
          <a:graphicData uri="http://schemas.openxmlformats.org/drawingml/2006/table">
            <a:tbl>
              <a:tblPr/>
              <a:tblGrid>
                <a:gridCol w="1920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7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572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2291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Feature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Automatic Control (PID / PLC)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Intelligent Control (AI-Enabled)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291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024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Logic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5C74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Fixed mathematical rules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5C74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Adaptive learning &amp; reasoning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291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024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Uncertainty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5C74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Fails under unexpected conditions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5C74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Handles noisy, incomplete, or fuzzy data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291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024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Self-Tuning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5C74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Requires manual recalibration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5C74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Continuously self-optimizes via experience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5" name="Text 18"/>
          <p:cNvSpPr/>
          <p:nvPr/>
        </p:nvSpPr>
        <p:spPr>
          <a:xfrm>
            <a:off x="11274552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3FE1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30352" y="566928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024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an AI-Powered Smart Controller?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170432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5C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Integrating Artificial Intelligence into Control Loops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1828800"/>
            <a:ext cx="11064240" cy="1005840"/>
          </a:xfrm>
          <a:prstGeom prst="roundRect">
            <a:avLst>
              <a:gd name="adj" fmla="val 10909"/>
            </a:avLst>
          </a:prstGeom>
          <a:solidFill>
            <a:srgbClr val="10243E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1828800"/>
            <a:ext cx="104241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 AI-powered smart controller combines conventional feedback control with machine learning, neural networks, or reinforcement learning algorithms to predict, adapt, and optimize decisions in real time.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3063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ROLE OF ARTIFICIAL INTELLIGENCE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49224" y="3401568"/>
            <a:ext cx="621792" cy="621792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9" name="Image 0" descr="icons/network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6275" y="3488619"/>
            <a:ext cx="447690" cy="44769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417320" y="3401568"/>
            <a:ext cx="100584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024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Recognizes complex spatial and temporal patterns in real-time streaming data.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649224" y="4114800"/>
            <a:ext cx="621792" cy="621792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2" name="Image 1" descr="icons/chartline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6275" y="4201851"/>
            <a:ext cx="447690" cy="44769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417320" y="4114800"/>
            <a:ext cx="100584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024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Forecasts future system states rather than merely reacting to past errors.</a:t>
            </a:r>
            <a:endParaRPr lang="en-US" sz="1250" dirty="0"/>
          </a:p>
        </p:txBody>
      </p:sp>
      <p:sp>
        <p:nvSpPr>
          <p:cNvPr id="14" name="Text 10"/>
          <p:cNvSpPr/>
          <p:nvPr/>
        </p:nvSpPr>
        <p:spPr>
          <a:xfrm>
            <a:off x="548640" y="48920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ADD AI TO CONVENTIONAL CONTROLLERS?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548640" y="5230368"/>
            <a:ext cx="3520440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2700">
            <a:solidFill>
              <a:srgbClr val="D7E4EC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722376" y="5564124"/>
            <a:ext cx="566928" cy="566928"/>
          </a:xfrm>
          <a:prstGeom prst="ellipse">
            <a:avLst/>
          </a:prstGeom>
          <a:solidFill>
            <a:srgbClr val="3FE1C0"/>
          </a:solidFill>
          <a:ln/>
        </p:spPr>
      </p:sp>
      <p:pic>
        <p:nvPicPr>
          <p:cNvPr id="17" name="Image 2" descr="icons/diagram_navy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1746" y="5643494"/>
            <a:ext cx="408188" cy="408188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417320" y="5340096"/>
            <a:ext cx="2514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024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Non-Linearity</a:t>
            </a:r>
            <a:endParaRPr lang="en-US" sz="1250" dirty="0"/>
          </a:p>
        </p:txBody>
      </p:sp>
      <p:sp>
        <p:nvSpPr>
          <p:cNvPr id="19" name="Text 14"/>
          <p:cNvSpPr/>
          <p:nvPr/>
        </p:nvSpPr>
        <p:spPr>
          <a:xfrm>
            <a:off x="1417320" y="5660136"/>
            <a:ext cx="246888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970" dirty="0">
                <a:solidFill>
                  <a:srgbClr val="5C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Manages complex systems where physical modeling is too difficult or computationally expensive.</a:t>
            </a:r>
            <a:endParaRPr lang="en-US" sz="970" dirty="0"/>
          </a:p>
        </p:txBody>
      </p:sp>
      <p:sp>
        <p:nvSpPr>
          <p:cNvPr id="20" name="Shape 15"/>
          <p:cNvSpPr/>
          <p:nvPr/>
        </p:nvSpPr>
        <p:spPr>
          <a:xfrm>
            <a:off x="4389120" y="5230368"/>
            <a:ext cx="3520440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2700">
            <a:solidFill>
              <a:srgbClr val="D7E4EC"/>
            </a:solidFill>
            <a:prstDash val="solid"/>
          </a:ln>
        </p:spPr>
      </p:sp>
      <p:sp>
        <p:nvSpPr>
          <p:cNvPr id="21" name="Shape 16"/>
          <p:cNvSpPr/>
          <p:nvPr/>
        </p:nvSpPr>
        <p:spPr>
          <a:xfrm>
            <a:off x="4562856" y="5564124"/>
            <a:ext cx="566928" cy="566928"/>
          </a:xfrm>
          <a:prstGeom prst="ellipse">
            <a:avLst/>
          </a:prstGeom>
          <a:solidFill>
            <a:srgbClr val="3FE1C0"/>
          </a:solidFill>
          <a:ln/>
        </p:spPr>
      </p:sp>
      <p:pic>
        <p:nvPicPr>
          <p:cNvPr id="22" name="Image 3" descr="icons/sync_navy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42226" y="5643494"/>
            <a:ext cx="408188" cy="408188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5257800" y="5340096"/>
            <a:ext cx="2514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024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Adaptability</a:t>
            </a:r>
            <a:endParaRPr lang="en-US" sz="1250" dirty="0"/>
          </a:p>
        </p:txBody>
      </p:sp>
      <p:sp>
        <p:nvSpPr>
          <p:cNvPr id="24" name="Text 18"/>
          <p:cNvSpPr/>
          <p:nvPr/>
        </p:nvSpPr>
        <p:spPr>
          <a:xfrm>
            <a:off x="5257800" y="5660136"/>
            <a:ext cx="246888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970" dirty="0">
                <a:solidFill>
                  <a:srgbClr val="5C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Adjusts to component wear, seasonal changes, and operational shifts automatically.</a:t>
            </a:r>
            <a:endParaRPr lang="en-US" sz="970" dirty="0"/>
          </a:p>
        </p:txBody>
      </p:sp>
      <p:sp>
        <p:nvSpPr>
          <p:cNvPr id="25" name="Shape 19"/>
          <p:cNvSpPr/>
          <p:nvPr/>
        </p:nvSpPr>
        <p:spPr>
          <a:xfrm>
            <a:off x="8229600" y="5230368"/>
            <a:ext cx="3520440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2700">
            <a:solidFill>
              <a:srgbClr val="D7E4EC"/>
            </a:solidFill>
            <a:prstDash val="solid"/>
          </a:ln>
        </p:spPr>
      </p:sp>
      <p:sp>
        <p:nvSpPr>
          <p:cNvPr id="26" name="Shape 20"/>
          <p:cNvSpPr/>
          <p:nvPr/>
        </p:nvSpPr>
        <p:spPr>
          <a:xfrm>
            <a:off x="8403336" y="5564124"/>
            <a:ext cx="566928" cy="566928"/>
          </a:xfrm>
          <a:prstGeom prst="ellipse">
            <a:avLst/>
          </a:prstGeom>
          <a:solidFill>
            <a:srgbClr val="3FE1C0"/>
          </a:solidFill>
          <a:ln/>
        </p:spPr>
      </p:sp>
      <p:pic>
        <p:nvPicPr>
          <p:cNvPr id="27" name="Image 4" descr="icons/bolt_navy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82706" y="5643494"/>
            <a:ext cx="408188" cy="408188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9098280" y="5340096"/>
            <a:ext cx="2514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024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Energy Efficiency</a:t>
            </a:r>
            <a:endParaRPr lang="en-US" sz="1250" dirty="0"/>
          </a:p>
        </p:txBody>
      </p:sp>
      <p:sp>
        <p:nvSpPr>
          <p:cNvPr id="29" name="Text 22"/>
          <p:cNvSpPr/>
          <p:nvPr/>
        </p:nvSpPr>
        <p:spPr>
          <a:xfrm>
            <a:off x="9098280" y="5660136"/>
            <a:ext cx="246888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970" dirty="0">
                <a:solidFill>
                  <a:srgbClr val="5C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Optimizes resource consumption while maintaining strict performance thresholds.</a:t>
            </a:r>
            <a:endParaRPr lang="en-US" sz="970" dirty="0"/>
          </a:p>
        </p:txBody>
      </p:sp>
      <p:sp>
        <p:nvSpPr>
          <p:cNvPr id="30" name="Text 23"/>
          <p:cNvSpPr/>
          <p:nvPr/>
        </p:nvSpPr>
        <p:spPr>
          <a:xfrm>
            <a:off x="11274552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3FE1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DESIGN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30352" y="566928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024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Basic System Architecture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170432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5C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Control Pipeline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2103120"/>
            <a:ext cx="2423160" cy="14630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D7E4EC"/>
            </a:solidFill>
            <a:prstDash val="solid"/>
          </a:ln>
          <a:effectLst>
            <a:outerShdw blurRad="76200" dist="25400" dir="5400000" algn="bl" rotWithShape="0">
              <a:srgbClr val="1C2B3A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431036" y="2276856"/>
            <a:ext cx="658368" cy="658368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7" name="Image 0" descr="icons/satellite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3208" y="2369028"/>
            <a:ext cx="474025" cy="474025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40080" y="3035808"/>
            <a:ext cx="22402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024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Sensors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2971800" y="2423160"/>
            <a:ext cx="274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3FE1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0" name="Shape 7"/>
          <p:cNvSpPr/>
          <p:nvPr/>
        </p:nvSpPr>
        <p:spPr>
          <a:xfrm>
            <a:off x="3246120" y="2103120"/>
            <a:ext cx="2423160" cy="14630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D7E4EC"/>
            </a:solidFill>
            <a:prstDash val="solid"/>
          </a:ln>
          <a:effectLst>
            <a:outerShdw blurRad="76200" dist="25400" dir="5400000" algn="bl" rotWithShape="0">
              <a:srgbClr val="1C2B3A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128516" y="2276856"/>
            <a:ext cx="658368" cy="658368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2" name="Image 1" descr="icons/database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20688" y="2369028"/>
            <a:ext cx="474025" cy="474025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337560" y="3035808"/>
            <a:ext cx="22402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024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Acquisition</a:t>
            </a:r>
            <a:endParaRPr lang="en-US" sz="1100" dirty="0"/>
          </a:p>
        </p:txBody>
      </p:sp>
      <p:sp>
        <p:nvSpPr>
          <p:cNvPr id="14" name="Text 10"/>
          <p:cNvSpPr/>
          <p:nvPr/>
        </p:nvSpPr>
        <p:spPr>
          <a:xfrm>
            <a:off x="5669280" y="2423160"/>
            <a:ext cx="274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3FE1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5" name="Shape 11"/>
          <p:cNvSpPr/>
          <p:nvPr/>
        </p:nvSpPr>
        <p:spPr>
          <a:xfrm>
            <a:off x="5943600" y="2103120"/>
            <a:ext cx="2423160" cy="14630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D7E4EC"/>
            </a:solidFill>
            <a:prstDash val="solid"/>
          </a:ln>
          <a:effectLst>
            <a:outerShdw blurRad="76200" dist="25400" dir="5400000" algn="bl" rotWithShape="0">
              <a:srgbClr val="1C2B3A">
                <a:alpha val="12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6825996" y="2276856"/>
            <a:ext cx="658368" cy="658368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7" name="Image 2" descr="icons/filter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18168" y="2369028"/>
            <a:ext cx="474025" cy="474025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035040" y="3035808"/>
            <a:ext cx="22402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024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Preprocessing</a:t>
            </a:r>
            <a:endParaRPr lang="en-US" sz="1100" dirty="0"/>
          </a:p>
        </p:txBody>
      </p:sp>
      <p:sp>
        <p:nvSpPr>
          <p:cNvPr id="19" name="Text 14"/>
          <p:cNvSpPr/>
          <p:nvPr/>
        </p:nvSpPr>
        <p:spPr>
          <a:xfrm>
            <a:off x="8366760" y="2423160"/>
            <a:ext cx="274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3FE1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20" name="Shape 15"/>
          <p:cNvSpPr/>
          <p:nvPr/>
        </p:nvSpPr>
        <p:spPr>
          <a:xfrm>
            <a:off x="8641080" y="2103120"/>
            <a:ext cx="2423160" cy="14630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D7E4EC"/>
            </a:solidFill>
            <a:prstDash val="solid"/>
          </a:ln>
          <a:effectLst>
            <a:outerShdw blurRad="76200" dist="25400" dir="5400000" algn="bl" rotWithShape="0">
              <a:srgbClr val="1C2B3A">
                <a:alpha val="12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9523476" y="2276856"/>
            <a:ext cx="658368" cy="658368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22" name="Image 3" descr="icons/brain_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615648" y="2369028"/>
            <a:ext cx="474025" cy="474025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8732520" y="3035808"/>
            <a:ext cx="22402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024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Model Engine</a:t>
            </a:r>
            <a:endParaRPr lang="en-US" sz="1100" dirty="0"/>
          </a:p>
        </p:txBody>
      </p:sp>
      <p:sp>
        <p:nvSpPr>
          <p:cNvPr id="24" name="Shape 18"/>
          <p:cNvSpPr/>
          <p:nvPr/>
        </p:nvSpPr>
        <p:spPr>
          <a:xfrm>
            <a:off x="9852660" y="3566160"/>
            <a:ext cx="0" cy="594360"/>
          </a:xfrm>
          <a:prstGeom prst="line">
            <a:avLst/>
          </a:prstGeom>
          <a:noFill/>
          <a:ln w="22225">
            <a:solidFill>
              <a:srgbClr val="1C7293"/>
            </a:solidFill>
            <a:prstDash val="solid"/>
            <a:tailEnd type="triangle"/>
          </a:ln>
        </p:spPr>
      </p:sp>
      <p:sp>
        <p:nvSpPr>
          <p:cNvPr id="25" name="Shape 19"/>
          <p:cNvSpPr/>
          <p:nvPr/>
        </p:nvSpPr>
        <p:spPr>
          <a:xfrm>
            <a:off x="3246120" y="4160520"/>
            <a:ext cx="2423160" cy="1463040"/>
          </a:xfrm>
          <a:prstGeom prst="roundRect">
            <a:avLst>
              <a:gd name="adj" fmla="val 6250"/>
            </a:avLst>
          </a:prstGeom>
          <a:solidFill>
            <a:srgbClr val="10243E"/>
          </a:solidFill>
          <a:ln/>
        </p:spPr>
      </p:sp>
      <p:sp>
        <p:nvSpPr>
          <p:cNvPr id="26" name="Shape 20"/>
          <p:cNvSpPr/>
          <p:nvPr/>
        </p:nvSpPr>
        <p:spPr>
          <a:xfrm>
            <a:off x="4128516" y="4334256"/>
            <a:ext cx="658368" cy="658368"/>
          </a:xfrm>
          <a:prstGeom prst="ellipse">
            <a:avLst/>
          </a:prstGeom>
          <a:solidFill>
            <a:srgbClr val="3FE1C0"/>
          </a:solidFill>
          <a:ln/>
        </p:spPr>
      </p:sp>
      <p:pic>
        <p:nvPicPr>
          <p:cNvPr id="27" name="Image 4" descr="icons/fan_navy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220688" y="4426428"/>
            <a:ext cx="474025" cy="474025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3337560" y="5093208"/>
            <a:ext cx="22402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Actuators</a:t>
            </a:r>
            <a:endParaRPr lang="en-US" sz="1100" dirty="0"/>
          </a:p>
        </p:txBody>
      </p:sp>
      <p:sp>
        <p:nvSpPr>
          <p:cNvPr id="29" name="Shape 22"/>
          <p:cNvSpPr/>
          <p:nvPr/>
        </p:nvSpPr>
        <p:spPr>
          <a:xfrm>
            <a:off x="5943600" y="4160520"/>
            <a:ext cx="2423160" cy="1463040"/>
          </a:xfrm>
          <a:prstGeom prst="roundRect">
            <a:avLst>
              <a:gd name="adj" fmla="val 6250"/>
            </a:avLst>
          </a:prstGeom>
          <a:solidFill>
            <a:srgbClr val="10243E"/>
          </a:solidFill>
          <a:ln/>
        </p:spPr>
      </p:sp>
      <p:sp>
        <p:nvSpPr>
          <p:cNvPr id="30" name="Shape 23"/>
          <p:cNvSpPr/>
          <p:nvPr/>
        </p:nvSpPr>
        <p:spPr>
          <a:xfrm>
            <a:off x="6825996" y="4334256"/>
            <a:ext cx="658368" cy="658368"/>
          </a:xfrm>
          <a:prstGeom prst="ellipse">
            <a:avLst/>
          </a:prstGeom>
          <a:solidFill>
            <a:srgbClr val="3FE1C0"/>
          </a:solidFill>
          <a:ln/>
        </p:spPr>
      </p:sp>
      <p:pic>
        <p:nvPicPr>
          <p:cNvPr id="31" name="Image 5" descr="icons/sliders_navy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918168" y="4426428"/>
            <a:ext cx="474025" cy="474025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6035040" y="5093208"/>
            <a:ext cx="22402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 Controller</a:t>
            </a:r>
            <a:endParaRPr lang="en-US" sz="1100" dirty="0"/>
          </a:p>
        </p:txBody>
      </p:sp>
      <p:sp>
        <p:nvSpPr>
          <p:cNvPr id="33" name="Shape 25"/>
          <p:cNvSpPr/>
          <p:nvPr/>
        </p:nvSpPr>
        <p:spPr>
          <a:xfrm>
            <a:off x="8641080" y="4160520"/>
            <a:ext cx="2423160" cy="1463040"/>
          </a:xfrm>
          <a:prstGeom prst="roundRect">
            <a:avLst>
              <a:gd name="adj" fmla="val 6250"/>
            </a:avLst>
          </a:prstGeom>
          <a:solidFill>
            <a:srgbClr val="10243E"/>
          </a:solidFill>
          <a:ln/>
        </p:spPr>
      </p:sp>
      <p:sp>
        <p:nvSpPr>
          <p:cNvPr id="34" name="Shape 26"/>
          <p:cNvSpPr/>
          <p:nvPr/>
        </p:nvSpPr>
        <p:spPr>
          <a:xfrm>
            <a:off x="9523476" y="4334256"/>
            <a:ext cx="658368" cy="658368"/>
          </a:xfrm>
          <a:prstGeom prst="ellipse">
            <a:avLst/>
          </a:prstGeom>
          <a:solidFill>
            <a:srgbClr val="3FE1C0"/>
          </a:solidFill>
          <a:ln/>
        </p:spPr>
      </p:sp>
      <p:pic>
        <p:nvPicPr>
          <p:cNvPr id="35" name="Image 6" descr="icons/bulb_navy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615648" y="4426428"/>
            <a:ext cx="474025" cy="474025"/>
          </a:xfrm>
          <a:prstGeom prst="rect">
            <a:avLst/>
          </a:prstGeom>
        </p:spPr>
      </p:pic>
      <p:sp>
        <p:nvSpPr>
          <p:cNvPr id="36" name="Text 27"/>
          <p:cNvSpPr/>
          <p:nvPr/>
        </p:nvSpPr>
        <p:spPr>
          <a:xfrm>
            <a:off x="8732520" y="5093208"/>
            <a:ext cx="22402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Decision-Making Core</a:t>
            </a:r>
            <a:endParaRPr lang="en-US" sz="1100" dirty="0"/>
          </a:p>
        </p:txBody>
      </p:sp>
      <p:sp>
        <p:nvSpPr>
          <p:cNvPr id="37" name="Text 28"/>
          <p:cNvSpPr/>
          <p:nvPr/>
        </p:nvSpPr>
        <p:spPr>
          <a:xfrm>
            <a:off x="8366760" y="4480560"/>
            <a:ext cx="274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3FE1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</a:t>
            </a:r>
            <a:endParaRPr lang="en-US" sz="1800" dirty="0"/>
          </a:p>
        </p:txBody>
      </p:sp>
      <p:sp>
        <p:nvSpPr>
          <p:cNvPr id="38" name="Text 29"/>
          <p:cNvSpPr/>
          <p:nvPr/>
        </p:nvSpPr>
        <p:spPr>
          <a:xfrm>
            <a:off x="5669280" y="4480560"/>
            <a:ext cx="274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3FE1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</a:t>
            </a:r>
            <a:endParaRPr lang="en-US" sz="1800" dirty="0"/>
          </a:p>
        </p:txBody>
      </p:sp>
      <p:sp>
        <p:nvSpPr>
          <p:cNvPr id="39" name="Shape 30"/>
          <p:cNvSpPr/>
          <p:nvPr/>
        </p:nvSpPr>
        <p:spPr>
          <a:xfrm>
            <a:off x="4457700" y="5623560"/>
            <a:ext cx="0" cy="365760"/>
          </a:xfrm>
          <a:prstGeom prst="line">
            <a:avLst/>
          </a:prstGeom>
          <a:noFill/>
          <a:ln w="22225">
            <a:solidFill>
              <a:srgbClr val="3FE1C0"/>
            </a:solidFill>
            <a:prstDash val="solid"/>
          </a:ln>
        </p:spPr>
      </p:sp>
      <p:sp>
        <p:nvSpPr>
          <p:cNvPr id="40" name="Shape 31"/>
          <p:cNvSpPr/>
          <p:nvPr/>
        </p:nvSpPr>
        <p:spPr>
          <a:xfrm>
            <a:off x="4457700" y="5989320"/>
            <a:ext cx="5394960" cy="0"/>
          </a:xfrm>
          <a:prstGeom prst="line">
            <a:avLst/>
          </a:prstGeom>
          <a:noFill/>
          <a:ln w="22225">
            <a:solidFill>
              <a:srgbClr val="3FE1C0"/>
            </a:solidFill>
            <a:prstDash val="solid"/>
          </a:ln>
        </p:spPr>
      </p:sp>
      <p:sp>
        <p:nvSpPr>
          <p:cNvPr id="41" name="Shape 32"/>
          <p:cNvSpPr/>
          <p:nvPr/>
        </p:nvSpPr>
        <p:spPr>
          <a:xfrm>
            <a:off x="9852660" y="5989320"/>
            <a:ext cx="0" cy="0"/>
          </a:xfrm>
          <a:prstGeom prst="line">
            <a:avLst/>
          </a:prstGeom>
          <a:noFill/>
          <a:ln w="22225">
            <a:solidFill>
              <a:srgbClr val="3FE1C0"/>
            </a:solidFill>
            <a:prstDash val="solid"/>
            <a:tailEnd type="triangle"/>
          </a:ln>
        </p:spPr>
      </p:sp>
      <p:sp>
        <p:nvSpPr>
          <p:cNvPr id="42" name="Text 33"/>
          <p:cNvSpPr/>
          <p:nvPr/>
        </p:nvSpPr>
        <p:spPr>
          <a:xfrm>
            <a:off x="3246120" y="6062472"/>
            <a:ext cx="5120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Feedback Loop</a:t>
            </a:r>
            <a:endParaRPr lang="en-US" sz="1100" dirty="0"/>
          </a:p>
        </p:txBody>
      </p:sp>
      <p:sp>
        <p:nvSpPr>
          <p:cNvPr id="43" name="Text 34"/>
          <p:cNvSpPr/>
          <p:nvPr/>
        </p:nvSpPr>
        <p:spPr>
          <a:xfrm>
            <a:off x="11274552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024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3FE1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30352" y="566928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Continuous Working Principle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170432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Closed-Loop AI Execution Cycle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4128516" y="1920240"/>
            <a:ext cx="3931920" cy="3931920"/>
          </a:xfrm>
          <a:prstGeom prst="ellipse">
            <a:avLst/>
          </a:prstGeom>
          <a:ln w="19050">
            <a:solidFill>
              <a:srgbClr val="1C7293"/>
            </a:solidFill>
            <a:prstDash val="dash"/>
          </a:ln>
        </p:spPr>
      </p:sp>
      <p:sp>
        <p:nvSpPr>
          <p:cNvPr id="6" name="Shape 4"/>
          <p:cNvSpPr/>
          <p:nvPr/>
        </p:nvSpPr>
        <p:spPr>
          <a:xfrm>
            <a:off x="5660136" y="1485900"/>
            <a:ext cx="868680" cy="868680"/>
          </a:xfrm>
          <a:prstGeom prst="ellipse">
            <a:avLst/>
          </a:prstGeom>
          <a:solidFill>
            <a:srgbClr val="3FE1C0"/>
          </a:solidFill>
          <a:ln/>
        </p:spPr>
      </p:sp>
      <p:pic>
        <p:nvPicPr>
          <p:cNvPr id="7" name="Image 0" descr="icons/satellite_nav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81751" y="1607515"/>
            <a:ext cx="625450" cy="62545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088636" y="2432304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Sensing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7362707" y="2468880"/>
            <a:ext cx="868680" cy="86868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0" name="Image 1" descr="icons/database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84323" y="2590495"/>
            <a:ext cx="625450" cy="62545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6791207" y="3415284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Processing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7362707" y="4434840"/>
            <a:ext cx="868680" cy="86868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3" name="Image 2" descr="icons/chartline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84323" y="4556455"/>
            <a:ext cx="625450" cy="62545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6791207" y="5381244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</a:t>
            </a:r>
            <a:endParaRPr lang="en-US" sz="1200" dirty="0"/>
          </a:p>
        </p:txBody>
      </p:sp>
      <p:sp>
        <p:nvSpPr>
          <p:cNvPr id="15" name="Shape 10"/>
          <p:cNvSpPr/>
          <p:nvPr/>
        </p:nvSpPr>
        <p:spPr>
          <a:xfrm>
            <a:off x="5660136" y="5417820"/>
            <a:ext cx="868680" cy="86868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6" name="Image 3" descr="icons/bullseye_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81751" y="5539435"/>
            <a:ext cx="625450" cy="62545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5088636" y="6364224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Selection</a:t>
            </a:r>
            <a:endParaRPr lang="en-US" sz="1200" dirty="0"/>
          </a:p>
        </p:txBody>
      </p:sp>
      <p:sp>
        <p:nvSpPr>
          <p:cNvPr id="18" name="Shape 12"/>
          <p:cNvSpPr/>
          <p:nvPr/>
        </p:nvSpPr>
        <p:spPr>
          <a:xfrm>
            <a:off x="3957565" y="4434840"/>
            <a:ext cx="868680" cy="86868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9" name="Image 4" descr="icons/sliders_whit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079180" y="4556455"/>
            <a:ext cx="625450" cy="625450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3386065" y="5381244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Action</a:t>
            </a:r>
            <a:endParaRPr lang="en-US" sz="1200" dirty="0"/>
          </a:p>
        </p:txBody>
      </p:sp>
      <p:sp>
        <p:nvSpPr>
          <p:cNvPr id="21" name="Shape 14"/>
          <p:cNvSpPr/>
          <p:nvPr/>
        </p:nvSpPr>
        <p:spPr>
          <a:xfrm>
            <a:off x="3957565" y="2468880"/>
            <a:ext cx="868680" cy="86868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22" name="Image 5" descr="icons/sync_whit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079180" y="2590495"/>
            <a:ext cx="625450" cy="625450"/>
          </a:xfrm>
          <a:prstGeom prst="rect">
            <a:avLst/>
          </a:prstGeom>
        </p:spPr>
      </p:pic>
      <p:sp>
        <p:nvSpPr>
          <p:cNvPr id="23" name="Text 15"/>
          <p:cNvSpPr/>
          <p:nvPr/>
        </p:nvSpPr>
        <p:spPr>
          <a:xfrm>
            <a:off x="3386065" y="3415284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Feedback &amp; Online Learning</a:t>
            </a:r>
            <a:endParaRPr lang="en-US" sz="1200" dirty="0"/>
          </a:p>
        </p:txBody>
      </p:sp>
      <p:sp>
        <p:nvSpPr>
          <p:cNvPr id="24" name="Text 16"/>
          <p:cNvSpPr/>
          <p:nvPr/>
        </p:nvSpPr>
        <p:spPr>
          <a:xfrm>
            <a:off x="5271516" y="3474720"/>
            <a:ext cx="1645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400" b="1" i="1" dirty="0">
                <a:solidFill>
                  <a:srgbClr val="3FE1C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Closed-Loop</a:t>
            </a:r>
            <a:endParaRPr lang="en-US" sz="140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1400" b="1" i="1" dirty="0">
                <a:solidFill>
                  <a:srgbClr val="3FE1C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Cycle</a:t>
            </a:r>
            <a:endParaRPr lang="en-US" sz="1400" dirty="0"/>
          </a:p>
        </p:txBody>
      </p:sp>
      <p:sp>
        <p:nvSpPr>
          <p:cNvPr id="25" name="Text 17"/>
          <p:cNvSpPr/>
          <p:nvPr/>
        </p:nvSpPr>
        <p:spPr>
          <a:xfrm>
            <a:off x="11274552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FB7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3FE1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TECHNIQUES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30352" y="566928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024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Core AI Techniques in Control Systems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170432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5C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Tools Driving Automation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2121408" cy="4160520"/>
          </a:xfrm>
          <a:prstGeom prst="roundRect">
            <a:avLst>
              <a:gd name="adj" fmla="val 5172"/>
            </a:avLst>
          </a:prstGeom>
          <a:solidFill>
            <a:srgbClr val="FFFFFF"/>
          </a:solidFill>
          <a:ln/>
          <a:effectLst>
            <a:outerShdw blurRad="101600" dist="25400" dir="5400000" algn="bl" rotWithShape="0">
              <a:srgbClr val="1C2B3A">
                <a:alpha val="1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220724" y="2308860"/>
            <a:ext cx="777240" cy="777240"/>
          </a:xfrm>
          <a:prstGeom prst="ellipse">
            <a:avLst/>
          </a:prstGeom>
          <a:solidFill>
            <a:srgbClr val="10243E"/>
          </a:solidFill>
          <a:ln/>
        </p:spPr>
      </p:sp>
      <p:pic>
        <p:nvPicPr>
          <p:cNvPr id="7" name="Image 0" descr="icons/network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29538" y="2417674"/>
            <a:ext cx="559613" cy="559613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94944" y="3246120"/>
            <a:ext cx="182880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024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Machine Learning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13232" y="3931920"/>
            <a:ext cx="1792224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980" dirty="0">
                <a:solidFill>
                  <a:srgbClr val="5C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Regression and state classification models for system identification and fault tracking.</a:t>
            </a:r>
            <a:endParaRPr lang="en-US" sz="980" dirty="0"/>
          </a:p>
        </p:txBody>
      </p:sp>
      <p:sp>
        <p:nvSpPr>
          <p:cNvPr id="10" name="Shape 7"/>
          <p:cNvSpPr/>
          <p:nvPr/>
        </p:nvSpPr>
        <p:spPr>
          <a:xfrm>
            <a:off x="2793492" y="1965960"/>
            <a:ext cx="2121408" cy="4160520"/>
          </a:xfrm>
          <a:prstGeom prst="roundRect">
            <a:avLst>
              <a:gd name="adj" fmla="val 5172"/>
            </a:avLst>
          </a:prstGeom>
          <a:solidFill>
            <a:srgbClr val="FFFFFF"/>
          </a:solidFill>
          <a:ln/>
          <a:effectLst>
            <a:outerShdw blurRad="101600" dist="25400" dir="5400000" algn="bl" rotWithShape="0">
              <a:srgbClr val="1C2B3A">
                <a:alpha val="15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465576" y="2308860"/>
            <a:ext cx="777240" cy="77724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2" name="Image 1" descr="icons/brain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74390" y="2417674"/>
            <a:ext cx="559613" cy="559613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2939796" y="3246120"/>
            <a:ext cx="182880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024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Neural Networks</a:t>
            </a:r>
            <a:endParaRPr lang="en-US" sz="1250" dirty="0"/>
          </a:p>
        </p:txBody>
      </p:sp>
      <p:sp>
        <p:nvSpPr>
          <p:cNvPr id="14" name="Text 10"/>
          <p:cNvSpPr/>
          <p:nvPr/>
        </p:nvSpPr>
        <p:spPr>
          <a:xfrm>
            <a:off x="2958084" y="3931920"/>
            <a:ext cx="1792224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980" dirty="0">
                <a:solidFill>
                  <a:srgbClr val="5C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Universal function approximators that model complex non-linear system dynamics.</a:t>
            </a:r>
            <a:endParaRPr lang="en-US" sz="980" dirty="0"/>
          </a:p>
        </p:txBody>
      </p:sp>
      <p:sp>
        <p:nvSpPr>
          <p:cNvPr id="15" name="Shape 11"/>
          <p:cNvSpPr/>
          <p:nvPr/>
        </p:nvSpPr>
        <p:spPr>
          <a:xfrm>
            <a:off x="5038344" y="1965960"/>
            <a:ext cx="2121408" cy="4160520"/>
          </a:xfrm>
          <a:prstGeom prst="roundRect">
            <a:avLst>
              <a:gd name="adj" fmla="val 5172"/>
            </a:avLst>
          </a:prstGeom>
          <a:solidFill>
            <a:srgbClr val="FFFFFF"/>
          </a:solidFill>
          <a:ln/>
          <a:effectLst>
            <a:outerShdw blurRad="101600" dist="25400" dir="5400000" algn="bl" rotWithShape="0">
              <a:srgbClr val="1C2B3A">
                <a:alpha val="15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5710428" y="2308860"/>
            <a:ext cx="777240" cy="777240"/>
          </a:xfrm>
          <a:prstGeom prst="ellipse">
            <a:avLst/>
          </a:prstGeom>
          <a:solidFill>
            <a:srgbClr val="10243E"/>
          </a:solidFill>
          <a:ln/>
        </p:spPr>
      </p:sp>
      <p:pic>
        <p:nvPicPr>
          <p:cNvPr id="17" name="Image 2" descr="icons/balance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19242" y="2417674"/>
            <a:ext cx="559613" cy="559613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5184648" y="3246120"/>
            <a:ext cx="182880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024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Fuzzy Logic Controllers</a:t>
            </a:r>
            <a:endParaRPr lang="en-US" sz="1250" dirty="0"/>
          </a:p>
        </p:txBody>
      </p:sp>
      <p:sp>
        <p:nvSpPr>
          <p:cNvPr id="19" name="Text 14"/>
          <p:cNvSpPr/>
          <p:nvPr/>
        </p:nvSpPr>
        <p:spPr>
          <a:xfrm>
            <a:off x="5202936" y="3931920"/>
            <a:ext cx="1792224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980" dirty="0">
                <a:solidFill>
                  <a:srgbClr val="5C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Mimics human decision-making with linguistic rules.</a:t>
            </a:r>
            <a:endParaRPr lang="en-US" sz="980" dirty="0"/>
          </a:p>
        </p:txBody>
      </p:sp>
      <p:sp>
        <p:nvSpPr>
          <p:cNvPr id="20" name="Shape 15"/>
          <p:cNvSpPr/>
          <p:nvPr/>
        </p:nvSpPr>
        <p:spPr>
          <a:xfrm>
            <a:off x="5166360" y="5212080"/>
            <a:ext cx="1865376" cy="822960"/>
          </a:xfrm>
          <a:prstGeom prst="roundRect">
            <a:avLst>
              <a:gd name="adj" fmla="val 8889"/>
            </a:avLst>
          </a:prstGeom>
          <a:solidFill>
            <a:srgbClr val="E7F4F1"/>
          </a:solidFill>
          <a:ln/>
        </p:spPr>
      </p:sp>
      <p:sp>
        <p:nvSpPr>
          <p:cNvPr id="21" name="Text 16"/>
          <p:cNvSpPr/>
          <p:nvPr/>
        </p:nvSpPr>
        <p:spPr>
          <a:xfrm>
            <a:off x="5257800" y="5257800"/>
            <a:ext cx="1682496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800" i="1" dirty="0">
                <a:solidFill>
                  <a:srgbClr val="1024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Temp is HIGH AND Humidity is VERY HIGH THEN Fan = MAX</a:t>
            </a:r>
            <a:endParaRPr lang="en-US" sz="800" dirty="0"/>
          </a:p>
        </p:txBody>
      </p:sp>
      <p:sp>
        <p:nvSpPr>
          <p:cNvPr id="22" name="Shape 17"/>
          <p:cNvSpPr/>
          <p:nvPr/>
        </p:nvSpPr>
        <p:spPr>
          <a:xfrm>
            <a:off x="7283196" y="1965960"/>
            <a:ext cx="2121408" cy="4160520"/>
          </a:xfrm>
          <a:prstGeom prst="roundRect">
            <a:avLst>
              <a:gd name="adj" fmla="val 5172"/>
            </a:avLst>
          </a:prstGeom>
          <a:solidFill>
            <a:srgbClr val="FFFFFF"/>
          </a:solidFill>
          <a:ln/>
          <a:effectLst>
            <a:outerShdw blurRad="101600" dist="25400" dir="5400000" algn="bl" rotWithShape="0">
              <a:srgbClr val="1C2B3A">
                <a:alpha val="15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7955280" y="2308860"/>
            <a:ext cx="777240" cy="77724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24" name="Image 3" descr="icons/medal_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64094" y="2417674"/>
            <a:ext cx="559613" cy="559613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7429500" y="3246120"/>
            <a:ext cx="182880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024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Reinforcement Learning</a:t>
            </a:r>
            <a:endParaRPr lang="en-US" sz="1250" dirty="0"/>
          </a:p>
        </p:txBody>
      </p:sp>
      <p:sp>
        <p:nvSpPr>
          <p:cNvPr id="26" name="Text 20"/>
          <p:cNvSpPr/>
          <p:nvPr/>
        </p:nvSpPr>
        <p:spPr>
          <a:xfrm>
            <a:off x="7447788" y="3931920"/>
            <a:ext cx="1792224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980" dirty="0">
                <a:solidFill>
                  <a:srgbClr val="5C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 reward functions to train agents to master control policies through direct interaction.</a:t>
            </a:r>
            <a:endParaRPr lang="en-US" sz="980" dirty="0"/>
          </a:p>
        </p:txBody>
      </p:sp>
      <p:sp>
        <p:nvSpPr>
          <p:cNvPr id="27" name="Shape 21"/>
          <p:cNvSpPr/>
          <p:nvPr/>
        </p:nvSpPr>
        <p:spPr>
          <a:xfrm>
            <a:off x="9528048" y="1965960"/>
            <a:ext cx="2121408" cy="4160520"/>
          </a:xfrm>
          <a:prstGeom prst="roundRect">
            <a:avLst>
              <a:gd name="adj" fmla="val 5172"/>
            </a:avLst>
          </a:prstGeom>
          <a:solidFill>
            <a:srgbClr val="FFFFFF"/>
          </a:solidFill>
          <a:ln/>
          <a:effectLst>
            <a:outerShdw blurRad="101600" dist="25400" dir="5400000" algn="bl" rotWithShape="0">
              <a:srgbClr val="1C2B3A">
                <a:alpha val="15000"/>
              </a:srgbClr>
            </a:outerShdw>
          </a:effectLst>
        </p:spPr>
      </p:sp>
      <p:sp>
        <p:nvSpPr>
          <p:cNvPr id="28" name="Shape 22"/>
          <p:cNvSpPr/>
          <p:nvPr/>
        </p:nvSpPr>
        <p:spPr>
          <a:xfrm>
            <a:off x="10200132" y="2308860"/>
            <a:ext cx="777240" cy="777240"/>
          </a:xfrm>
          <a:prstGeom prst="ellipse">
            <a:avLst/>
          </a:prstGeom>
          <a:solidFill>
            <a:srgbClr val="10243E"/>
          </a:solidFill>
          <a:ln/>
        </p:spPr>
      </p:sp>
      <p:pic>
        <p:nvPicPr>
          <p:cNvPr id="29" name="Image 4" descr="icons/chartline_whit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308946" y="2417674"/>
            <a:ext cx="559613" cy="559613"/>
          </a:xfrm>
          <a:prstGeom prst="rect">
            <a:avLst/>
          </a:prstGeom>
        </p:spPr>
      </p:pic>
      <p:sp>
        <p:nvSpPr>
          <p:cNvPr id="30" name="Text 23"/>
          <p:cNvSpPr/>
          <p:nvPr/>
        </p:nvSpPr>
        <p:spPr>
          <a:xfrm>
            <a:off x="9674352" y="3246120"/>
            <a:ext cx="182880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024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Predictive Analytics (MPC + AI)</a:t>
            </a:r>
            <a:endParaRPr lang="en-US" sz="1250" dirty="0"/>
          </a:p>
        </p:txBody>
      </p:sp>
      <p:sp>
        <p:nvSpPr>
          <p:cNvPr id="31" name="Text 24"/>
          <p:cNvSpPr/>
          <p:nvPr/>
        </p:nvSpPr>
        <p:spPr>
          <a:xfrm>
            <a:off x="9692640" y="3931920"/>
            <a:ext cx="1792224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980" dirty="0">
                <a:solidFill>
                  <a:srgbClr val="5C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Combines Model Predictive Control with historical data to handle future constraints proactively.</a:t>
            </a:r>
            <a:endParaRPr lang="en-US" sz="980" dirty="0"/>
          </a:p>
        </p:txBody>
      </p:sp>
      <p:sp>
        <p:nvSpPr>
          <p:cNvPr id="32" name="Text 25"/>
          <p:cNvSpPr/>
          <p:nvPr/>
        </p:nvSpPr>
        <p:spPr>
          <a:xfrm>
            <a:off x="11274552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3FE1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LAYER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30352" y="566928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024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AI-Based Decision-Making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170432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5C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Transforming Data into Real-Time Actions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548640" y="17830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DATA-TO-ACTION PIPELINE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48640" y="2103120"/>
            <a:ext cx="3977640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D7E4E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59536" y="2299716"/>
            <a:ext cx="566928" cy="566928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8" name="Image 0" descr="icons/inbox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8906" y="2379086"/>
            <a:ext cx="408188" cy="40818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554480" y="2194560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024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Inputs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1554480" y="2450592"/>
            <a:ext cx="2880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900" dirty="0">
                <a:solidFill>
                  <a:srgbClr val="5C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Multi-sensor streams + historical logs + environmental constraints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5751576" y="2240280"/>
            <a:ext cx="685800" cy="685800"/>
          </a:xfrm>
          <a:prstGeom prst="ellipse">
            <a:avLst/>
          </a:prstGeom>
          <a:solidFill>
            <a:srgbClr val="10243E"/>
          </a:solidFill>
          <a:ln/>
        </p:spPr>
      </p:sp>
      <p:pic>
        <p:nvPicPr>
          <p:cNvPr id="12" name="Image 1" descr="icons/brain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47588" y="2336292"/>
            <a:ext cx="493776" cy="493776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553712" y="2331720"/>
            <a:ext cx="1234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3FE1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4" name="Text 10"/>
          <p:cNvSpPr/>
          <p:nvPr/>
        </p:nvSpPr>
        <p:spPr>
          <a:xfrm>
            <a:off x="6446520" y="2331720"/>
            <a:ext cx="1234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3FE1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5" name="Shape 11"/>
          <p:cNvSpPr/>
          <p:nvPr/>
        </p:nvSpPr>
        <p:spPr>
          <a:xfrm>
            <a:off x="7680960" y="2103120"/>
            <a:ext cx="3959352" cy="960120"/>
          </a:xfrm>
          <a:prstGeom prst="roundRect">
            <a:avLst>
              <a:gd name="adj" fmla="val 9524"/>
            </a:avLst>
          </a:prstGeom>
          <a:solidFill>
            <a:srgbClr val="10243E"/>
          </a:solidFill>
          <a:ln/>
        </p:spPr>
      </p:sp>
      <p:sp>
        <p:nvSpPr>
          <p:cNvPr id="16" name="Shape 12"/>
          <p:cNvSpPr/>
          <p:nvPr/>
        </p:nvSpPr>
        <p:spPr>
          <a:xfrm>
            <a:off x="7991856" y="2299716"/>
            <a:ext cx="566928" cy="566928"/>
          </a:xfrm>
          <a:prstGeom prst="ellipse">
            <a:avLst/>
          </a:prstGeom>
          <a:solidFill>
            <a:srgbClr val="3FE1C0"/>
          </a:solidFill>
          <a:ln/>
        </p:spPr>
      </p:sp>
      <p:pic>
        <p:nvPicPr>
          <p:cNvPr id="17" name="Image 2" descr="icons/outbox_navy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71226" y="2379086"/>
            <a:ext cx="408188" cy="408188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686800" y="2194560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Outputs</a:t>
            </a:r>
            <a:endParaRPr lang="en-US" sz="1250" dirty="0"/>
          </a:p>
        </p:txBody>
      </p:sp>
      <p:sp>
        <p:nvSpPr>
          <p:cNvPr id="19" name="Text 14"/>
          <p:cNvSpPr/>
          <p:nvPr/>
        </p:nvSpPr>
        <p:spPr>
          <a:xfrm>
            <a:off x="8686800" y="2450592"/>
            <a:ext cx="2880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Optimized, real-time control trajectories</a:t>
            </a:r>
            <a:endParaRPr lang="en-US" sz="900" dirty="0"/>
          </a:p>
        </p:txBody>
      </p:sp>
      <p:sp>
        <p:nvSpPr>
          <p:cNvPr id="20" name="Text 15"/>
          <p:cNvSpPr/>
          <p:nvPr/>
        </p:nvSpPr>
        <p:spPr>
          <a:xfrm>
            <a:off x="548640" y="33375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PILLARS</a:t>
            </a:r>
            <a:endParaRPr lang="en-US" sz="1100" dirty="0"/>
          </a:p>
        </p:txBody>
      </p:sp>
      <p:sp>
        <p:nvSpPr>
          <p:cNvPr id="21" name="Shape 16"/>
          <p:cNvSpPr/>
          <p:nvPr/>
        </p:nvSpPr>
        <p:spPr>
          <a:xfrm>
            <a:off x="548640" y="3657600"/>
            <a:ext cx="2670048" cy="2606040"/>
          </a:xfrm>
          <a:prstGeom prst="roundRect">
            <a:avLst>
              <a:gd name="adj" fmla="val 4211"/>
            </a:avLst>
          </a:prstGeom>
          <a:solidFill>
            <a:srgbClr val="10243E"/>
          </a:solidFill>
          <a:ln/>
        </p:spPr>
      </p:sp>
      <p:sp>
        <p:nvSpPr>
          <p:cNvPr id="22" name="Shape 17"/>
          <p:cNvSpPr/>
          <p:nvPr/>
        </p:nvSpPr>
        <p:spPr>
          <a:xfrm>
            <a:off x="1495044" y="3954780"/>
            <a:ext cx="777240" cy="777240"/>
          </a:xfrm>
          <a:prstGeom prst="ellipse">
            <a:avLst/>
          </a:prstGeom>
          <a:solidFill>
            <a:srgbClr val="3FE1C0"/>
          </a:solidFill>
          <a:ln/>
        </p:spPr>
      </p:sp>
      <p:pic>
        <p:nvPicPr>
          <p:cNvPr id="23" name="Image 3" descr="icons/tags_navy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603858" y="4063594"/>
            <a:ext cx="559613" cy="559613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694944" y="489204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Classification</a:t>
            </a:r>
            <a:endParaRPr lang="en-US" sz="1300" dirty="0"/>
          </a:p>
        </p:txBody>
      </p:sp>
      <p:sp>
        <p:nvSpPr>
          <p:cNvPr id="25" name="Text 19"/>
          <p:cNvSpPr/>
          <p:nvPr/>
        </p:nvSpPr>
        <p:spPr>
          <a:xfrm>
            <a:off x="731520" y="5394960"/>
            <a:ext cx="2304288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000" dirty="0">
                <a:solidFill>
                  <a:srgbClr val="E4EE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Categorizes operational modes — Normal, Peak Load, Fault Imminent.</a:t>
            </a:r>
            <a:endParaRPr lang="en-US" sz="1000" dirty="0"/>
          </a:p>
        </p:txBody>
      </p:sp>
      <p:sp>
        <p:nvSpPr>
          <p:cNvPr id="26" name="Shape 20"/>
          <p:cNvSpPr/>
          <p:nvPr/>
        </p:nvSpPr>
        <p:spPr>
          <a:xfrm>
            <a:off x="3401568" y="3657600"/>
            <a:ext cx="2670048" cy="2606040"/>
          </a:xfrm>
          <a:prstGeom prst="roundRect">
            <a:avLst>
              <a:gd name="adj" fmla="val 4211"/>
            </a:avLst>
          </a:prstGeom>
          <a:solidFill>
            <a:srgbClr val="1C7293"/>
          </a:solidFill>
          <a:ln/>
        </p:spPr>
      </p:sp>
      <p:sp>
        <p:nvSpPr>
          <p:cNvPr id="27" name="Shape 21"/>
          <p:cNvSpPr/>
          <p:nvPr/>
        </p:nvSpPr>
        <p:spPr>
          <a:xfrm>
            <a:off x="4347972" y="3954780"/>
            <a:ext cx="777240" cy="777240"/>
          </a:xfrm>
          <a:prstGeom prst="ellipse">
            <a:avLst/>
          </a:prstGeom>
          <a:solidFill>
            <a:srgbClr val="3FE1C0"/>
          </a:solidFill>
          <a:ln/>
        </p:spPr>
      </p:sp>
      <p:pic>
        <p:nvPicPr>
          <p:cNvPr id="28" name="Image 4" descr="icons/bullseye_navy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456786" y="4063594"/>
            <a:ext cx="559613" cy="559613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3547872" y="489204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Prediction</a:t>
            </a:r>
            <a:endParaRPr lang="en-US" sz="1300" dirty="0"/>
          </a:p>
        </p:txBody>
      </p:sp>
      <p:sp>
        <p:nvSpPr>
          <p:cNvPr id="30" name="Text 23"/>
          <p:cNvSpPr/>
          <p:nvPr/>
        </p:nvSpPr>
        <p:spPr>
          <a:xfrm>
            <a:off x="3584448" y="5394960"/>
            <a:ext cx="2304288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000" dirty="0">
                <a:solidFill>
                  <a:srgbClr val="E4EE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Forecasts variables, e.g. anticipating thermal load spikes 15 minutes ahead.</a:t>
            </a:r>
            <a:endParaRPr lang="en-US" sz="1000" dirty="0"/>
          </a:p>
        </p:txBody>
      </p:sp>
      <p:sp>
        <p:nvSpPr>
          <p:cNvPr id="31" name="Shape 24"/>
          <p:cNvSpPr/>
          <p:nvPr/>
        </p:nvSpPr>
        <p:spPr>
          <a:xfrm>
            <a:off x="6254496" y="3657600"/>
            <a:ext cx="2670048" cy="2606040"/>
          </a:xfrm>
          <a:prstGeom prst="roundRect">
            <a:avLst>
              <a:gd name="adj" fmla="val 4211"/>
            </a:avLst>
          </a:prstGeom>
          <a:solidFill>
            <a:srgbClr val="10243E"/>
          </a:solidFill>
          <a:ln/>
        </p:spPr>
      </p:sp>
      <p:sp>
        <p:nvSpPr>
          <p:cNvPr id="32" name="Shape 25"/>
          <p:cNvSpPr/>
          <p:nvPr/>
        </p:nvSpPr>
        <p:spPr>
          <a:xfrm>
            <a:off x="7200900" y="3954780"/>
            <a:ext cx="777240" cy="777240"/>
          </a:xfrm>
          <a:prstGeom prst="ellipse">
            <a:avLst/>
          </a:prstGeom>
          <a:solidFill>
            <a:srgbClr val="3FE1C0"/>
          </a:solidFill>
          <a:ln/>
        </p:spPr>
      </p:sp>
      <p:pic>
        <p:nvPicPr>
          <p:cNvPr id="33" name="Image 5" descr="icons/chartarea_navy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309714" y="4063594"/>
            <a:ext cx="559613" cy="559613"/>
          </a:xfrm>
          <a:prstGeom prst="rect">
            <a:avLst/>
          </a:prstGeom>
        </p:spPr>
      </p:pic>
      <p:sp>
        <p:nvSpPr>
          <p:cNvPr id="34" name="Text 26"/>
          <p:cNvSpPr/>
          <p:nvPr/>
        </p:nvSpPr>
        <p:spPr>
          <a:xfrm>
            <a:off x="6400800" y="489204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Optimization</a:t>
            </a:r>
            <a:endParaRPr lang="en-US" sz="1300" dirty="0"/>
          </a:p>
        </p:txBody>
      </p:sp>
      <p:sp>
        <p:nvSpPr>
          <p:cNvPr id="35" name="Text 27"/>
          <p:cNvSpPr/>
          <p:nvPr/>
        </p:nvSpPr>
        <p:spPr>
          <a:xfrm>
            <a:off x="6437376" y="5394960"/>
            <a:ext cx="2304288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000" dirty="0">
                <a:solidFill>
                  <a:srgbClr val="E4EE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Solves multi-objective problems — maximize throughput while minimizing energy.</a:t>
            </a:r>
            <a:endParaRPr lang="en-US" sz="1000" dirty="0"/>
          </a:p>
        </p:txBody>
      </p:sp>
      <p:sp>
        <p:nvSpPr>
          <p:cNvPr id="36" name="Shape 28"/>
          <p:cNvSpPr/>
          <p:nvPr/>
        </p:nvSpPr>
        <p:spPr>
          <a:xfrm>
            <a:off x="9107424" y="3657600"/>
            <a:ext cx="2670048" cy="2606040"/>
          </a:xfrm>
          <a:prstGeom prst="roundRect">
            <a:avLst>
              <a:gd name="adj" fmla="val 4211"/>
            </a:avLst>
          </a:prstGeom>
          <a:solidFill>
            <a:srgbClr val="1C7293"/>
          </a:solidFill>
          <a:ln/>
        </p:spPr>
      </p:sp>
      <p:sp>
        <p:nvSpPr>
          <p:cNvPr id="37" name="Shape 29"/>
          <p:cNvSpPr/>
          <p:nvPr/>
        </p:nvSpPr>
        <p:spPr>
          <a:xfrm>
            <a:off x="10053828" y="3954780"/>
            <a:ext cx="777240" cy="777240"/>
          </a:xfrm>
          <a:prstGeom prst="ellipse">
            <a:avLst/>
          </a:prstGeom>
          <a:solidFill>
            <a:srgbClr val="3FE1C0"/>
          </a:solidFill>
          <a:ln/>
        </p:spPr>
      </p:sp>
      <p:pic>
        <p:nvPicPr>
          <p:cNvPr id="38" name="Image 6" descr="icons/sync_navy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162642" y="4063594"/>
            <a:ext cx="559613" cy="559613"/>
          </a:xfrm>
          <a:prstGeom prst="rect">
            <a:avLst/>
          </a:prstGeom>
        </p:spPr>
      </p:pic>
      <p:sp>
        <p:nvSpPr>
          <p:cNvPr id="39" name="Text 30"/>
          <p:cNvSpPr/>
          <p:nvPr/>
        </p:nvSpPr>
        <p:spPr>
          <a:xfrm>
            <a:off x="9253728" y="489204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Adaptive Control</a:t>
            </a:r>
            <a:endParaRPr lang="en-US" sz="1300" dirty="0"/>
          </a:p>
        </p:txBody>
      </p:sp>
      <p:sp>
        <p:nvSpPr>
          <p:cNvPr id="40" name="Text 31"/>
          <p:cNvSpPr/>
          <p:nvPr/>
        </p:nvSpPr>
        <p:spPr>
          <a:xfrm>
            <a:off x="9290304" y="5394960"/>
            <a:ext cx="2304288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000" dirty="0">
                <a:solidFill>
                  <a:srgbClr val="E4EE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Dynamically adjusts controller parameters in real time as components age.</a:t>
            </a:r>
            <a:endParaRPr lang="en-US" sz="1000" dirty="0"/>
          </a:p>
        </p:txBody>
      </p:sp>
      <p:sp>
        <p:nvSpPr>
          <p:cNvPr id="41" name="Text 32"/>
          <p:cNvSpPr/>
          <p:nvPr/>
        </p:nvSpPr>
        <p:spPr>
          <a:xfrm>
            <a:off x="11274552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3FE1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STUDY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30352" y="566928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024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Real-World Example: Smart Climate Control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170432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5C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Intelligent HVAC Optimization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5394960" cy="1783080"/>
          </a:xfrm>
          <a:prstGeom prst="roundRect">
            <a:avLst>
              <a:gd name="adj" fmla="val 6154"/>
            </a:avLst>
          </a:prstGeom>
          <a:solidFill>
            <a:srgbClr val="10243E"/>
          </a:solidFill>
          <a:ln/>
        </p:spPr>
      </p:sp>
      <p:sp>
        <p:nvSpPr>
          <p:cNvPr id="6" name="Shape 4"/>
          <p:cNvSpPr/>
          <p:nvPr/>
        </p:nvSpPr>
        <p:spPr>
          <a:xfrm>
            <a:off x="795528" y="1920240"/>
            <a:ext cx="640080" cy="640080"/>
          </a:xfrm>
          <a:prstGeom prst="ellipse">
            <a:avLst/>
          </a:prstGeom>
          <a:solidFill>
            <a:srgbClr val="3FE1C0"/>
          </a:solidFill>
          <a:ln/>
        </p:spPr>
      </p:sp>
      <p:pic>
        <p:nvPicPr>
          <p:cNvPr id="7" name="Image 0" descr="icons/thermometer_nav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5139" y="2009851"/>
            <a:ext cx="460858" cy="46085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554480" y="1947672"/>
            <a:ext cx="4206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Inputs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841248" y="2624328"/>
            <a:ext cx="64008" cy="64008"/>
          </a:xfrm>
          <a:prstGeom prst="ellipse">
            <a:avLst/>
          </a:prstGeom>
          <a:solidFill>
            <a:srgbClr val="3FE1C0"/>
          </a:solidFill>
          <a:ln/>
        </p:spPr>
      </p:sp>
      <p:sp>
        <p:nvSpPr>
          <p:cNvPr id="10" name="Text 7"/>
          <p:cNvSpPr/>
          <p:nvPr/>
        </p:nvSpPr>
        <p:spPr>
          <a:xfrm>
            <a:off x="1024128" y="2532888"/>
            <a:ext cx="46177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980" dirty="0">
                <a:solidFill>
                  <a:srgbClr val="E4EE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Environmental: Temperature, Relative Humidity</a:t>
            </a:r>
            <a:endParaRPr lang="en-US" sz="980" dirty="0"/>
          </a:p>
        </p:txBody>
      </p:sp>
      <p:sp>
        <p:nvSpPr>
          <p:cNvPr id="11" name="Shape 8"/>
          <p:cNvSpPr/>
          <p:nvPr/>
        </p:nvSpPr>
        <p:spPr>
          <a:xfrm>
            <a:off x="841248" y="2990088"/>
            <a:ext cx="64008" cy="64008"/>
          </a:xfrm>
          <a:prstGeom prst="ellipse">
            <a:avLst/>
          </a:prstGeom>
          <a:solidFill>
            <a:srgbClr val="3FE1C0"/>
          </a:solidFill>
          <a:ln/>
        </p:spPr>
      </p:sp>
      <p:sp>
        <p:nvSpPr>
          <p:cNvPr id="12" name="Text 9"/>
          <p:cNvSpPr/>
          <p:nvPr/>
        </p:nvSpPr>
        <p:spPr>
          <a:xfrm>
            <a:off x="1024128" y="2898648"/>
            <a:ext cx="46177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980" dirty="0">
                <a:solidFill>
                  <a:srgbClr val="E4EE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Operational: Occupancy Count, Time-of-Day, Weather Forecasts</a:t>
            </a:r>
            <a:endParaRPr lang="en-US" sz="980" dirty="0"/>
          </a:p>
        </p:txBody>
      </p:sp>
      <p:sp>
        <p:nvSpPr>
          <p:cNvPr id="13" name="Shape 10"/>
          <p:cNvSpPr/>
          <p:nvPr/>
        </p:nvSpPr>
        <p:spPr>
          <a:xfrm>
            <a:off x="6217920" y="1783080"/>
            <a:ext cx="5394960" cy="1783080"/>
          </a:xfrm>
          <a:prstGeom prst="roundRect">
            <a:avLst>
              <a:gd name="adj" fmla="val 6154"/>
            </a:avLst>
          </a:prstGeom>
          <a:solidFill>
            <a:srgbClr val="1C7293"/>
          </a:solidFill>
          <a:ln/>
        </p:spPr>
      </p:sp>
      <p:sp>
        <p:nvSpPr>
          <p:cNvPr id="14" name="Shape 11"/>
          <p:cNvSpPr/>
          <p:nvPr/>
        </p:nvSpPr>
        <p:spPr>
          <a:xfrm>
            <a:off x="6464808" y="1920240"/>
            <a:ext cx="640080" cy="640080"/>
          </a:xfrm>
          <a:prstGeom prst="ellipse">
            <a:avLst/>
          </a:prstGeom>
          <a:solidFill>
            <a:srgbClr val="3FE1C0"/>
          </a:solidFill>
          <a:ln/>
        </p:spPr>
      </p:sp>
      <p:pic>
        <p:nvPicPr>
          <p:cNvPr id="15" name="Image 1" descr="icons/brain_nav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54419" y="2009851"/>
            <a:ext cx="460858" cy="460858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7223760" y="1947672"/>
            <a:ext cx="4206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Analytics Engine</a:t>
            </a:r>
            <a:endParaRPr lang="en-US" sz="1400" dirty="0"/>
          </a:p>
        </p:txBody>
      </p:sp>
      <p:sp>
        <p:nvSpPr>
          <p:cNvPr id="17" name="Shape 13"/>
          <p:cNvSpPr/>
          <p:nvPr/>
        </p:nvSpPr>
        <p:spPr>
          <a:xfrm>
            <a:off x="6510528" y="2624328"/>
            <a:ext cx="64008" cy="64008"/>
          </a:xfrm>
          <a:prstGeom prst="ellipse">
            <a:avLst/>
          </a:prstGeom>
          <a:solidFill>
            <a:srgbClr val="3FE1C0"/>
          </a:solidFill>
          <a:ln/>
        </p:spPr>
      </p:sp>
      <p:sp>
        <p:nvSpPr>
          <p:cNvPr id="18" name="Text 14"/>
          <p:cNvSpPr/>
          <p:nvPr/>
        </p:nvSpPr>
        <p:spPr>
          <a:xfrm>
            <a:off x="6693408" y="2532888"/>
            <a:ext cx="46177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980" dirty="0">
                <a:solidFill>
                  <a:srgbClr val="E4EE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Processes multi-sensor inputs to forecast dynamic thermal loads over time</a:t>
            </a:r>
            <a:endParaRPr lang="en-US" sz="980" dirty="0"/>
          </a:p>
        </p:txBody>
      </p:sp>
      <p:sp>
        <p:nvSpPr>
          <p:cNvPr id="19" name="Shape 15"/>
          <p:cNvSpPr/>
          <p:nvPr/>
        </p:nvSpPr>
        <p:spPr>
          <a:xfrm>
            <a:off x="6510528" y="3099816"/>
            <a:ext cx="64008" cy="64008"/>
          </a:xfrm>
          <a:prstGeom prst="ellipse">
            <a:avLst/>
          </a:prstGeom>
          <a:solidFill>
            <a:srgbClr val="3FE1C0"/>
          </a:solidFill>
          <a:ln/>
        </p:spPr>
      </p:sp>
      <p:sp>
        <p:nvSpPr>
          <p:cNvPr id="20" name="Text 16"/>
          <p:cNvSpPr/>
          <p:nvPr/>
        </p:nvSpPr>
        <p:spPr>
          <a:xfrm>
            <a:off x="6693408" y="3008376"/>
            <a:ext cx="46177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980" dirty="0">
                <a:solidFill>
                  <a:srgbClr val="E4EE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Evaluates electricity pricing alongside thermal comfort profiles</a:t>
            </a:r>
            <a:endParaRPr lang="en-US" sz="980" dirty="0"/>
          </a:p>
        </p:txBody>
      </p:sp>
      <p:sp>
        <p:nvSpPr>
          <p:cNvPr id="21" name="Shape 17"/>
          <p:cNvSpPr/>
          <p:nvPr/>
        </p:nvSpPr>
        <p:spPr>
          <a:xfrm>
            <a:off x="548640" y="3767328"/>
            <a:ext cx="5394960" cy="1783080"/>
          </a:xfrm>
          <a:prstGeom prst="roundRect">
            <a:avLst>
              <a:gd name="adj" fmla="val 6154"/>
            </a:avLst>
          </a:prstGeom>
          <a:solidFill>
            <a:srgbClr val="1C7293"/>
          </a:solidFill>
          <a:ln/>
        </p:spPr>
      </p:sp>
      <p:sp>
        <p:nvSpPr>
          <p:cNvPr id="22" name="Shape 18"/>
          <p:cNvSpPr/>
          <p:nvPr/>
        </p:nvSpPr>
        <p:spPr>
          <a:xfrm>
            <a:off x="795528" y="3904488"/>
            <a:ext cx="640080" cy="640080"/>
          </a:xfrm>
          <a:prstGeom prst="ellipse">
            <a:avLst/>
          </a:prstGeom>
          <a:solidFill>
            <a:srgbClr val="3FE1C0"/>
          </a:solidFill>
          <a:ln/>
        </p:spPr>
      </p:sp>
      <p:pic>
        <p:nvPicPr>
          <p:cNvPr id="23" name="Image 2" descr="icons/snowflake_navy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5139" y="3994099"/>
            <a:ext cx="460858" cy="460858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1554480" y="3931920"/>
            <a:ext cx="4206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Control Execution</a:t>
            </a:r>
            <a:endParaRPr lang="en-US" sz="1400" dirty="0"/>
          </a:p>
        </p:txBody>
      </p:sp>
      <p:sp>
        <p:nvSpPr>
          <p:cNvPr id="25" name="Shape 20"/>
          <p:cNvSpPr/>
          <p:nvPr/>
        </p:nvSpPr>
        <p:spPr>
          <a:xfrm>
            <a:off x="841248" y="4608576"/>
            <a:ext cx="64008" cy="64008"/>
          </a:xfrm>
          <a:prstGeom prst="ellipse">
            <a:avLst/>
          </a:prstGeom>
          <a:solidFill>
            <a:srgbClr val="3FE1C0"/>
          </a:solidFill>
          <a:ln/>
        </p:spPr>
      </p:sp>
      <p:sp>
        <p:nvSpPr>
          <p:cNvPr id="26" name="Text 21"/>
          <p:cNvSpPr/>
          <p:nvPr/>
        </p:nvSpPr>
        <p:spPr>
          <a:xfrm>
            <a:off x="1024128" y="4517136"/>
            <a:ext cx="46177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980" dirty="0">
                <a:solidFill>
                  <a:srgbClr val="E4EE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Pre-cools rooms prior to predicted high-occupancy intervals</a:t>
            </a:r>
            <a:endParaRPr lang="en-US" sz="980" dirty="0"/>
          </a:p>
        </p:txBody>
      </p:sp>
      <p:sp>
        <p:nvSpPr>
          <p:cNvPr id="27" name="Shape 22"/>
          <p:cNvSpPr/>
          <p:nvPr/>
        </p:nvSpPr>
        <p:spPr>
          <a:xfrm>
            <a:off x="841248" y="5084064"/>
            <a:ext cx="64008" cy="64008"/>
          </a:xfrm>
          <a:prstGeom prst="ellipse">
            <a:avLst/>
          </a:prstGeom>
          <a:solidFill>
            <a:srgbClr val="3FE1C0"/>
          </a:solidFill>
          <a:ln/>
        </p:spPr>
      </p:sp>
      <p:sp>
        <p:nvSpPr>
          <p:cNvPr id="28" name="Text 23"/>
          <p:cNvSpPr/>
          <p:nvPr/>
        </p:nvSpPr>
        <p:spPr>
          <a:xfrm>
            <a:off x="1024128" y="4992624"/>
            <a:ext cx="46177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980" dirty="0">
                <a:solidFill>
                  <a:srgbClr val="E4EE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Adjusts fan inverter speeds &amp; compressor cycles to prevent power spikes</a:t>
            </a:r>
            <a:endParaRPr lang="en-US" sz="980" dirty="0"/>
          </a:p>
        </p:txBody>
      </p:sp>
      <p:sp>
        <p:nvSpPr>
          <p:cNvPr id="29" name="Shape 24"/>
          <p:cNvSpPr/>
          <p:nvPr/>
        </p:nvSpPr>
        <p:spPr>
          <a:xfrm>
            <a:off x="6217920" y="3767328"/>
            <a:ext cx="5394960" cy="1783080"/>
          </a:xfrm>
          <a:prstGeom prst="roundRect">
            <a:avLst>
              <a:gd name="adj" fmla="val 6154"/>
            </a:avLst>
          </a:prstGeom>
          <a:solidFill>
            <a:srgbClr val="10243E"/>
          </a:solidFill>
          <a:ln/>
        </p:spPr>
      </p:sp>
      <p:sp>
        <p:nvSpPr>
          <p:cNvPr id="30" name="Shape 25"/>
          <p:cNvSpPr/>
          <p:nvPr/>
        </p:nvSpPr>
        <p:spPr>
          <a:xfrm>
            <a:off x="6464808" y="3904488"/>
            <a:ext cx="640080" cy="640080"/>
          </a:xfrm>
          <a:prstGeom prst="ellipse">
            <a:avLst/>
          </a:prstGeom>
          <a:solidFill>
            <a:srgbClr val="3FE1C0"/>
          </a:solidFill>
          <a:ln/>
        </p:spPr>
      </p:sp>
      <p:pic>
        <p:nvPicPr>
          <p:cNvPr id="31" name="Image 3" descr="icons/sync_navy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54419" y="3994099"/>
            <a:ext cx="460858" cy="460858"/>
          </a:xfrm>
          <a:prstGeom prst="rect">
            <a:avLst/>
          </a:prstGeom>
        </p:spPr>
      </p:pic>
      <p:sp>
        <p:nvSpPr>
          <p:cNvPr id="32" name="Text 26"/>
          <p:cNvSpPr/>
          <p:nvPr/>
        </p:nvSpPr>
        <p:spPr>
          <a:xfrm>
            <a:off x="7223760" y="3931920"/>
            <a:ext cx="4206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Feedback &amp; Learning Loop</a:t>
            </a:r>
            <a:endParaRPr lang="en-US" sz="1400" dirty="0"/>
          </a:p>
        </p:txBody>
      </p:sp>
      <p:sp>
        <p:nvSpPr>
          <p:cNvPr id="33" name="Shape 27"/>
          <p:cNvSpPr/>
          <p:nvPr/>
        </p:nvSpPr>
        <p:spPr>
          <a:xfrm>
            <a:off x="6510528" y="4608576"/>
            <a:ext cx="64008" cy="64008"/>
          </a:xfrm>
          <a:prstGeom prst="ellipse">
            <a:avLst/>
          </a:prstGeom>
          <a:solidFill>
            <a:srgbClr val="3FE1C0"/>
          </a:solidFill>
          <a:ln/>
        </p:spPr>
      </p:sp>
      <p:sp>
        <p:nvSpPr>
          <p:cNvPr id="34" name="Text 28"/>
          <p:cNvSpPr/>
          <p:nvPr/>
        </p:nvSpPr>
        <p:spPr>
          <a:xfrm>
            <a:off x="6693408" y="4517136"/>
            <a:ext cx="46177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980" dirty="0">
                <a:solidFill>
                  <a:srgbClr val="E4EE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Monitors thermal recovery times to continuously refine internal thermal mass models</a:t>
            </a:r>
            <a:endParaRPr lang="en-US" sz="980" dirty="0"/>
          </a:p>
        </p:txBody>
      </p:sp>
      <p:sp>
        <p:nvSpPr>
          <p:cNvPr id="35" name="Shape 29"/>
          <p:cNvSpPr/>
          <p:nvPr/>
        </p:nvSpPr>
        <p:spPr>
          <a:xfrm>
            <a:off x="548640" y="5623560"/>
            <a:ext cx="11064240" cy="868680"/>
          </a:xfrm>
          <a:prstGeom prst="roundRect">
            <a:avLst>
              <a:gd name="adj" fmla="val 14737"/>
            </a:avLst>
          </a:prstGeom>
          <a:solidFill>
            <a:srgbClr val="3FE1C0"/>
          </a:solidFill>
          <a:ln/>
        </p:spPr>
      </p:sp>
      <p:sp>
        <p:nvSpPr>
          <p:cNvPr id="36" name="Shape 30"/>
          <p:cNvSpPr/>
          <p:nvPr/>
        </p:nvSpPr>
        <p:spPr>
          <a:xfrm>
            <a:off x="1097280" y="5737860"/>
            <a:ext cx="640080" cy="640080"/>
          </a:xfrm>
          <a:prstGeom prst="ellipse">
            <a:avLst/>
          </a:prstGeom>
          <a:solidFill>
            <a:srgbClr val="10243E"/>
          </a:solidFill>
          <a:ln/>
        </p:spPr>
      </p:sp>
      <p:pic>
        <p:nvPicPr>
          <p:cNvPr id="37" name="Image 4" descr="icons/percent_whit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86891" y="5827471"/>
            <a:ext cx="460858" cy="460858"/>
          </a:xfrm>
          <a:prstGeom prst="rect">
            <a:avLst/>
          </a:prstGeom>
        </p:spPr>
      </p:pic>
      <p:sp>
        <p:nvSpPr>
          <p:cNvPr id="38" name="Text 31"/>
          <p:cNvSpPr/>
          <p:nvPr/>
        </p:nvSpPr>
        <p:spPr>
          <a:xfrm>
            <a:off x="1965960" y="5623560"/>
            <a:ext cx="12801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024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Result:</a:t>
            </a:r>
            <a:endParaRPr lang="en-US" sz="1500" dirty="0"/>
          </a:p>
        </p:txBody>
      </p:sp>
      <p:sp>
        <p:nvSpPr>
          <p:cNvPr id="39" name="Text 32"/>
          <p:cNvSpPr/>
          <p:nvPr/>
        </p:nvSpPr>
        <p:spPr>
          <a:xfrm>
            <a:off x="3200400" y="5623560"/>
            <a:ext cx="82296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024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20–35% reduction in total energy consumption — while maintaining full thermal comfort.</a:t>
            </a:r>
            <a:endParaRPr lang="en-US" sz="1350" dirty="0"/>
          </a:p>
        </p:txBody>
      </p:sp>
      <p:sp>
        <p:nvSpPr>
          <p:cNvPr id="40" name="Text 33"/>
          <p:cNvSpPr/>
          <p:nvPr/>
        </p:nvSpPr>
        <p:spPr>
          <a:xfrm>
            <a:off x="11274552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3FE1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BENEFITS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30352" y="59436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024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Advantages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3566160" cy="20574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/>
          <a:effectLst>
            <a:outerShdw blurRad="88900" dist="25400" dir="5400000" algn="bl" rotWithShape="0">
              <a:srgbClr val="1C2B3A">
                <a:alpha val="13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50392" y="2084832"/>
            <a:ext cx="713232" cy="713232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6" name="Image 0" descr="icons/cogs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0244" y="2184684"/>
            <a:ext cx="513527" cy="51352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91640" y="2075688"/>
            <a:ext cx="22402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1024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Automation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822960" y="2926080"/>
            <a:ext cx="3017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C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Removes repetitive manual adjustment from routine control tasks.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4343400" y="1874520"/>
            <a:ext cx="3566160" cy="20574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/>
          <a:effectLst>
            <a:outerShdw blurRad="88900" dist="25400" dir="5400000" algn="bl" rotWithShape="0">
              <a:srgbClr val="1C2B3A">
                <a:alpha val="13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645152" y="2084832"/>
            <a:ext cx="713232" cy="713232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1" name="Image 1" descr="icons/sync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45004" y="2184684"/>
            <a:ext cx="513527" cy="513527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486400" y="2075688"/>
            <a:ext cx="22402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1024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Adaptability</a:t>
            </a:r>
            <a:endParaRPr lang="en-US" sz="1350" dirty="0"/>
          </a:p>
        </p:txBody>
      </p:sp>
      <p:sp>
        <p:nvSpPr>
          <p:cNvPr id="13" name="Text 9"/>
          <p:cNvSpPr/>
          <p:nvPr/>
        </p:nvSpPr>
        <p:spPr>
          <a:xfrm>
            <a:off x="4617720" y="2926080"/>
            <a:ext cx="3017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C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Adjusts behaviour automatically as conditions and environments change.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8138160" y="1874520"/>
            <a:ext cx="3566160" cy="20574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/>
          <a:effectLst>
            <a:outerShdw blurRad="88900" dist="25400" dir="5400000" algn="bl" rotWithShape="0">
              <a:srgbClr val="1C2B3A">
                <a:alpha val="13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439912" y="2084832"/>
            <a:ext cx="713232" cy="713232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6" name="Image 2" descr="icons/chartline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39764" y="2184684"/>
            <a:ext cx="513527" cy="513527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9281160" y="2075688"/>
            <a:ext cx="22402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1024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Prediction</a:t>
            </a:r>
            <a:endParaRPr lang="en-US" sz="1350" dirty="0"/>
          </a:p>
        </p:txBody>
      </p:sp>
      <p:sp>
        <p:nvSpPr>
          <p:cNvPr id="18" name="Text 13"/>
          <p:cNvSpPr/>
          <p:nvPr/>
        </p:nvSpPr>
        <p:spPr>
          <a:xfrm>
            <a:off x="8412480" y="2926080"/>
            <a:ext cx="3017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C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Anticipates future states, enabling proactive rather than reactive control.</a:t>
            </a:r>
            <a:endParaRPr lang="en-US" sz="1050" dirty="0"/>
          </a:p>
        </p:txBody>
      </p:sp>
      <p:sp>
        <p:nvSpPr>
          <p:cNvPr id="19" name="Shape 14"/>
          <p:cNvSpPr/>
          <p:nvPr/>
        </p:nvSpPr>
        <p:spPr>
          <a:xfrm>
            <a:off x="548640" y="4160520"/>
            <a:ext cx="3566160" cy="20574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/>
          <a:effectLst>
            <a:outerShdw blurRad="88900" dist="25400" dir="5400000" algn="bl" rotWithShape="0">
              <a:srgbClr val="1C2B3A">
                <a:alpha val="13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850392" y="4370832"/>
            <a:ext cx="713232" cy="713232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21" name="Image 3" descr="icons/gaugehigh_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50244" y="4470684"/>
            <a:ext cx="513527" cy="513527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691640" y="4361688"/>
            <a:ext cx="22402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1024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Efficiency</a:t>
            </a:r>
            <a:endParaRPr lang="en-US" sz="1350" dirty="0"/>
          </a:p>
        </p:txBody>
      </p:sp>
      <p:sp>
        <p:nvSpPr>
          <p:cNvPr id="23" name="Text 17"/>
          <p:cNvSpPr/>
          <p:nvPr/>
        </p:nvSpPr>
        <p:spPr>
          <a:xfrm>
            <a:off x="822960" y="5212080"/>
            <a:ext cx="3017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C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Optimizes operations to reduce waste, energy use, and downtime.</a:t>
            </a:r>
            <a:endParaRPr lang="en-US" sz="1050" dirty="0"/>
          </a:p>
        </p:txBody>
      </p:sp>
      <p:sp>
        <p:nvSpPr>
          <p:cNvPr id="24" name="Shape 18"/>
          <p:cNvSpPr/>
          <p:nvPr/>
        </p:nvSpPr>
        <p:spPr>
          <a:xfrm>
            <a:off x="4343400" y="4160520"/>
            <a:ext cx="3566160" cy="20574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/>
          <a:effectLst>
            <a:outerShdw blurRad="88900" dist="25400" dir="5400000" algn="bl" rotWithShape="0">
              <a:srgbClr val="1C2B3A">
                <a:alpha val="13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4645152" y="4370832"/>
            <a:ext cx="713232" cy="713232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26" name="Image 4" descr="icons/users_whit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45004" y="4470684"/>
            <a:ext cx="513527" cy="513527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5486400" y="4361688"/>
            <a:ext cx="22402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1024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Reduced Human Intervention</a:t>
            </a:r>
            <a:endParaRPr lang="en-US" sz="1350" dirty="0"/>
          </a:p>
        </p:txBody>
      </p:sp>
      <p:sp>
        <p:nvSpPr>
          <p:cNvPr id="28" name="Text 21"/>
          <p:cNvSpPr/>
          <p:nvPr/>
        </p:nvSpPr>
        <p:spPr>
          <a:xfrm>
            <a:off x="4617720" y="5212080"/>
            <a:ext cx="3017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C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Handles routine decisions independently, freeing operators for exceptions.</a:t>
            </a:r>
            <a:endParaRPr lang="en-US" sz="1050" dirty="0"/>
          </a:p>
        </p:txBody>
      </p:sp>
      <p:sp>
        <p:nvSpPr>
          <p:cNvPr id="29" name="Shape 22"/>
          <p:cNvSpPr/>
          <p:nvPr/>
        </p:nvSpPr>
        <p:spPr>
          <a:xfrm>
            <a:off x="8138160" y="4160520"/>
            <a:ext cx="3566160" cy="20574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/>
          <a:effectLst>
            <a:outerShdw blurRad="88900" dist="25400" dir="5400000" algn="bl" rotWithShape="0">
              <a:srgbClr val="1C2B3A">
                <a:alpha val="13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8439912" y="4370832"/>
            <a:ext cx="713232" cy="713232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31" name="Image 5" descr="icons/chartarea_whit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539764" y="4470684"/>
            <a:ext cx="513527" cy="513527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9281160" y="4361688"/>
            <a:ext cx="22402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1024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Better Resource Utilization</a:t>
            </a:r>
            <a:endParaRPr lang="en-US" sz="1350" dirty="0"/>
          </a:p>
        </p:txBody>
      </p:sp>
      <p:sp>
        <p:nvSpPr>
          <p:cNvPr id="33" name="Text 25"/>
          <p:cNvSpPr/>
          <p:nvPr/>
        </p:nvSpPr>
        <p:spPr>
          <a:xfrm>
            <a:off x="8412480" y="5212080"/>
            <a:ext cx="3017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C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Allocates power, materials, and time more effectively across the system.</a:t>
            </a:r>
            <a:endParaRPr lang="en-US" sz="1050" dirty="0"/>
          </a:p>
        </p:txBody>
      </p:sp>
      <p:sp>
        <p:nvSpPr>
          <p:cNvPr id="34" name="Text 26"/>
          <p:cNvSpPr/>
          <p:nvPr/>
        </p:nvSpPr>
        <p:spPr>
          <a:xfrm>
            <a:off x="11274552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282834934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3FE1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CONSIDERATIONS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30352" y="59436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024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Challenges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3566160" cy="2057400"/>
          </a:xfrm>
          <a:prstGeom prst="roundRect">
            <a:avLst>
              <a:gd name="adj" fmla="val 5333"/>
            </a:avLst>
          </a:prstGeom>
          <a:solidFill>
            <a:srgbClr val="10243E"/>
          </a:solidFill>
          <a:ln/>
        </p:spPr>
      </p:sp>
      <p:sp>
        <p:nvSpPr>
          <p:cNvPr id="5" name="Shape 3"/>
          <p:cNvSpPr/>
          <p:nvPr/>
        </p:nvSpPr>
        <p:spPr>
          <a:xfrm>
            <a:off x="850392" y="2084832"/>
            <a:ext cx="713232" cy="713232"/>
          </a:xfrm>
          <a:prstGeom prst="ellipse">
            <a:avLst/>
          </a:prstGeom>
          <a:solidFill>
            <a:srgbClr val="3FE1C0"/>
          </a:solidFill>
          <a:ln/>
        </p:spPr>
      </p:sp>
      <p:pic>
        <p:nvPicPr>
          <p:cNvPr id="6" name="Image 0" descr="icons/database_nav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0244" y="2184684"/>
            <a:ext cx="513527" cy="51352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91640" y="2075688"/>
            <a:ext cx="22402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Requirements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822960" y="2926080"/>
            <a:ext cx="3017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Needs large volumes of quality, labelled operating data to train effectively.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4343400" y="1874520"/>
            <a:ext cx="3566160" cy="2057400"/>
          </a:xfrm>
          <a:prstGeom prst="roundRect">
            <a:avLst>
              <a:gd name="adj" fmla="val 5333"/>
            </a:avLst>
          </a:prstGeom>
          <a:solidFill>
            <a:srgbClr val="10243E"/>
          </a:solidFill>
          <a:ln/>
        </p:spPr>
      </p:sp>
      <p:sp>
        <p:nvSpPr>
          <p:cNvPr id="10" name="Shape 7"/>
          <p:cNvSpPr/>
          <p:nvPr/>
        </p:nvSpPr>
        <p:spPr>
          <a:xfrm>
            <a:off x="4645152" y="2084832"/>
            <a:ext cx="713232" cy="713232"/>
          </a:xfrm>
          <a:prstGeom prst="ellipse">
            <a:avLst/>
          </a:prstGeom>
          <a:solidFill>
            <a:srgbClr val="3FE1C0"/>
          </a:solidFill>
          <a:ln/>
        </p:spPr>
      </p:sp>
      <p:pic>
        <p:nvPicPr>
          <p:cNvPr id="11" name="Image 1" descr="icons/satellite_nav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45004" y="2184684"/>
            <a:ext cx="513527" cy="513527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486400" y="2075688"/>
            <a:ext cx="22402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Sensor Reliability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4617720" y="2926080"/>
            <a:ext cx="3017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Faulty or noisy sensors directly degrade AI predictions and decisions.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8138160" y="1874520"/>
            <a:ext cx="3566160" cy="2057400"/>
          </a:xfrm>
          <a:prstGeom prst="roundRect">
            <a:avLst>
              <a:gd name="adj" fmla="val 5333"/>
            </a:avLst>
          </a:prstGeom>
          <a:solidFill>
            <a:srgbClr val="10243E"/>
          </a:solidFill>
          <a:ln/>
        </p:spPr>
      </p:sp>
      <p:sp>
        <p:nvSpPr>
          <p:cNvPr id="15" name="Shape 11"/>
          <p:cNvSpPr/>
          <p:nvPr/>
        </p:nvSpPr>
        <p:spPr>
          <a:xfrm>
            <a:off x="8439912" y="2084832"/>
            <a:ext cx="713232" cy="713232"/>
          </a:xfrm>
          <a:prstGeom prst="ellipse">
            <a:avLst/>
          </a:prstGeom>
          <a:solidFill>
            <a:srgbClr val="3FE1C0"/>
          </a:solidFill>
          <a:ln/>
        </p:spPr>
      </p:sp>
      <p:pic>
        <p:nvPicPr>
          <p:cNvPr id="16" name="Image 2" descr="icons/chip_navy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39764" y="2184684"/>
            <a:ext cx="513527" cy="513527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9281160" y="2075688"/>
            <a:ext cx="22402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Computational Requirements</a:t>
            </a:r>
            <a:endParaRPr lang="en-US" sz="1300" dirty="0"/>
          </a:p>
        </p:txBody>
      </p:sp>
      <p:sp>
        <p:nvSpPr>
          <p:cNvPr id="18" name="Text 13"/>
          <p:cNvSpPr/>
          <p:nvPr/>
        </p:nvSpPr>
        <p:spPr>
          <a:xfrm>
            <a:off x="8412480" y="2926080"/>
            <a:ext cx="3017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inference can demand significant onboard processing power.</a:t>
            </a:r>
            <a:endParaRPr lang="en-US" sz="1050" dirty="0"/>
          </a:p>
        </p:txBody>
      </p:sp>
      <p:sp>
        <p:nvSpPr>
          <p:cNvPr id="19" name="Shape 14"/>
          <p:cNvSpPr/>
          <p:nvPr/>
        </p:nvSpPr>
        <p:spPr>
          <a:xfrm>
            <a:off x="548640" y="4160520"/>
            <a:ext cx="3566160" cy="2057400"/>
          </a:xfrm>
          <a:prstGeom prst="roundRect">
            <a:avLst>
              <a:gd name="adj" fmla="val 5333"/>
            </a:avLst>
          </a:prstGeom>
          <a:solidFill>
            <a:srgbClr val="10243E"/>
          </a:solidFill>
          <a:ln/>
        </p:spPr>
      </p:sp>
      <p:sp>
        <p:nvSpPr>
          <p:cNvPr id="20" name="Shape 15"/>
          <p:cNvSpPr/>
          <p:nvPr/>
        </p:nvSpPr>
        <p:spPr>
          <a:xfrm>
            <a:off x="850392" y="4370832"/>
            <a:ext cx="713232" cy="713232"/>
          </a:xfrm>
          <a:prstGeom prst="ellipse">
            <a:avLst/>
          </a:prstGeom>
          <a:solidFill>
            <a:srgbClr val="3FE1C0"/>
          </a:solidFill>
          <a:ln/>
        </p:spPr>
      </p:sp>
      <p:pic>
        <p:nvPicPr>
          <p:cNvPr id="21" name="Image 3" descr="icons/shield_navy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50244" y="4470684"/>
            <a:ext cx="513527" cy="513527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691640" y="4361688"/>
            <a:ext cx="22402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Security</a:t>
            </a:r>
            <a:endParaRPr lang="en-US" sz="1300" dirty="0"/>
          </a:p>
        </p:txBody>
      </p:sp>
      <p:sp>
        <p:nvSpPr>
          <p:cNvPr id="23" name="Text 17"/>
          <p:cNvSpPr/>
          <p:nvPr/>
        </p:nvSpPr>
        <p:spPr>
          <a:xfrm>
            <a:off x="822960" y="5212080"/>
            <a:ext cx="3017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Connected, data-driven controllers widen the attack surface for cyber threats.</a:t>
            </a:r>
            <a:endParaRPr lang="en-US" sz="1050" dirty="0"/>
          </a:p>
        </p:txBody>
      </p:sp>
      <p:sp>
        <p:nvSpPr>
          <p:cNvPr id="24" name="Shape 18"/>
          <p:cNvSpPr/>
          <p:nvPr/>
        </p:nvSpPr>
        <p:spPr>
          <a:xfrm>
            <a:off x="4343400" y="4160520"/>
            <a:ext cx="3566160" cy="2057400"/>
          </a:xfrm>
          <a:prstGeom prst="roundRect">
            <a:avLst>
              <a:gd name="adj" fmla="val 5333"/>
            </a:avLst>
          </a:prstGeom>
          <a:solidFill>
            <a:srgbClr val="10243E"/>
          </a:solidFill>
          <a:ln/>
        </p:spPr>
      </p:sp>
      <p:sp>
        <p:nvSpPr>
          <p:cNvPr id="25" name="Shape 19"/>
          <p:cNvSpPr/>
          <p:nvPr/>
        </p:nvSpPr>
        <p:spPr>
          <a:xfrm>
            <a:off x="4645152" y="4370832"/>
            <a:ext cx="713232" cy="713232"/>
          </a:xfrm>
          <a:prstGeom prst="ellipse">
            <a:avLst/>
          </a:prstGeom>
          <a:solidFill>
            <a:srgbClr val="3FE1C0"/>
          </a:solidFill>
          <a:ln/>
        </p:spPr>
      </p:sp>
      <p:pic>
        <p:nvPicPr>
          <p:cNvPr id="26" name="Image 4" descr="icons/eye_navy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45004" y="4470684"/>
            <a:ext cx="513527" cy="513527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5486400" y="4361688"/>
            <a:ext cx="22402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Explainability</a:t>
            </a:r>
            <a:endParaRPr lang="en-US" sz="1300" dirty="0"/>
          </a:p>
        </p:txBody>
      </p:sp>
      <p:sp>
        <p:nvSpPr>
          <p:cNvPr id="28" name="Text 21"/>
          <p:cNvSpPr/>
          <p:nvPr/>
        </p:nvSpPr>
        <p:spPr>
          <a:xfrm>
            <a:off x="4617720" y="5212080"/>
            <a:ext cx="3017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Complex models can be difficult to interpret, audit, or fully trust.</a:t>
            </a:r>
            <a:endParaRPr lang="en-US" sz="1050" dirty="0"/>
          </a:p>
        </p:txBody>
      </p:sp>
      <p:sp>
        <p:nvSpPr>
          <p:cNvPr id="29" name="Shape 22"/>
          <p:cNvSpPr/>
          <p:nvPr/>
        </p:nvSpPr>
        <p:spPr>
          <a:xfrm>
            <a:off x="8138160" y="4160520"/>
            <a:ext cx="3566160" cy="2057400"/>
          </a:xfrm>
          <a:prstGeom prst="roundRect">
            <a:avLst>
              <a:gd name="adj" fmla="val 5333"/>
            </a:avLst>
          </a:prstGeom>
          <a:solidFill>
            <a:srgbClr val="10243E"/>
          </a:solidFill>
          <a:ln/>
        </p:spPr>
      </p:sp>
      <p:sp>
        <p:nvSpPr>
          <p:cNvPr id="30" name="Shape 23"/>
          <p:cNvSpPr/>
          <p:nvPr/>
        </p:nvSpPr>
        <p:spPr>
          <a:xfrm>
            <a:off x="8439912" y="4370832"/>
            <a:ext cx="713232" cy="713232"/>
          </a:xfrm>
          <a:prstGeom prst="ellipse">
            <a:avLst/>
          </a:prstGeom>
          <a:solidFill>
            <a:srgbClr val="3FE1C0"/>
          </a:solidFill>
          <a:ln/>
        </p:spPr>
      </p:sp>
      <p:pic>
        <p:nvPicPr>
          <p:cNvPr id="31" name="Image 5" descr="icons/moneybill_navy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539764" y="4470684"/>
            <a:ext cx="513527" cy="513527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9281160" y="4361688"/>
            <a:ext cx="22402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Cost</a:t>
            </a:r>
            <a:endParaRPr lang="en-US" sz="1300" dirty="0"/>
          </a:p>
        </p:txBody>
      </p:sp>
      <p:sp>
        <p:nvSpPr>
          <p:cNvPr id="33" name="Text 25"/>
          <p:cNvSpPr/>
          <p:nvPr/>
        </p:nvSpPr>
        <p:spPr>
          <a:xfrm>
            <a:off x="8412480" y="5212080"/>
            <a:ext cx="3017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Sensors, compute, and integration raise upfront and maintenance cost.</a:t>
            </a:r>
            <a:endParaRPr lang="en-US" sz="1050" dirty="0"/>
          </a:p>
        </p:txBody>
      </p:sp>
      <p:sp>
        <p:nvSpPr>
          <p:cNvPr id="34" name="Text 26"/>
          <p:cNvSpPr/>
          <p:nvPr/>
        </p:nvSpPr>
        <p:spPr>
          <a:xfrm>
            <a:off x="11274552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154082925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3FE1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NEXT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30352" y="59436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024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Future Scope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3566160" cy="20574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/>
          <a:effectLst>
            <a:outerShdw blurRad="88900" dist="25400" dir="5400000" algn="bl" rotWithShape="0">
              <a:srgbClr val="1C2B3A">
                <a:alpha val="13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50392" y="2084832"/>
            <a:ext cx="713232" cy="713232"/>
          </a:xfrm>
          <a:prstGeom prst="ellipse">
            <a:avLst/>
          </a:prstGeom>
          <a:solidFill>
            <a:srgbClr val="10243E"/>
          </a:solidFill>
          <a:ln/>
        </p:spPr>
      </p:sp>
      <p:pic>
        <p:nvPicPr>
          <p:cNvPr id="6" name="Image 0" descr="icons/chip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0244" y="2184684"/>
            <a:ext cx="513527" cy="51352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91640" y="2075688"/>
            <a:ext cx="22402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1024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Edge AI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822960" y="2926080"/>
            <a:ext cx="3017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C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Running AI models directly on local controller hardware for faster response.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4343400" y="1874520"/>
            <a:ext cx="3566160" cy="20574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/>
          <a:effectLst>
            <a:outerShdw blurRad="88900" dist="25400" dir="5400000" algn="bl" rotWithShape="0">
              <a:srgbClr val="1C2B3A">
                <a:alpha val="13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645152" y="2084832"/>
            <a:ext cx="713232" cy="713232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1" name="Image 1" descr="icons/car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45004" y="2184684"/>
            <a:ext cx="513527" cy="513527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486400" y="2075688"/>
            <a:ext cx="22402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1024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Autonomous Systems</a:t>
            </a:r>
            <a:endParaRPr lang="en-US" sz="1350" dirty="0"/>
          </a:p>
        </p:txBody>
      </p:sp>
      <p:sp>
        <p:nvSpPr>
          <p:cNvPr id="13" name="Text 9"/>
          <p:cNvSpPr/>
          <p:nvPr/>
        </p:nvSpPr>
        <p:spPr>
          <a:xfrm>
            <a:off x="4617720" y="2926080"/>
            <a:ext cx="3017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C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Extending intelligent control toward fully self-operating machines and vehicles.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8138160" y="1874520"/>
            <a:ext cx="3566160" cy="20574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/>
          <a:effectLst>
            <a:outerShdw blurRad="88900" dist="25400" dir="5400000" algn="bl" rotWithShape="0">
              <a:srgbClr val="1C2B3A">
                <a:alpha val="13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439912" y="2084832"/>
            <a:ext cx="713232" cy="713232"/>
          </a:xfrm>
          <a:prstGeom prst="ellipse">
            <a:avLst/>
          </a:prstGeom>
          <a:solidFill>
            <a:srgbClr val="10243E"/>
          </a:solidFill>
          <a:ln/>
        </p:spPr>
      </p:sp>
      <p:pic>
        <p:nvPicPr>
          <p:cNvPr id="16" name="Image 2" descr="icons/brain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39764" y="2184684"/>
            <a:ext cx="513527" cy="513527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9281160" y="2075688"/>
            <a:ext cx="22402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1024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Self-Learning Controllers</a:t>
            </a:r>
            <a:endParaRPr lang="en-US" sz="1350" dirty="0"/>
          </a:p>
        </p:txBody>
      </p:sp>
      <p:sp>
        <p:nvSpPr>
          <p:cNvPr id="18" name="Text 13"/>
          <p:cNvSpPr/>
          <p:nvPr/>
        </p:nvSpPr>
        <p:spPr>
          <a:xfrm>
            <a:off x="8412480" y="2926080"/>
            <a:ext cx="3017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C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Controllers that continuously retrain themselves from live operational data.</a:t>
            </a:r>
            <a:endParaRPr lang="en-US" sz="1050" dirty="0"/>
          </a:p>
        </p:txBody>
      </p:sp>
      <p:sp>
        <p:nvSpPr>
          <p:cNvPr id="19" name="Shape 14"/>
          <p:cNvSpPr/>
          <p:nvPr/>
        </p:nvSpPr>
        <p:spPr>
          <a:xfrm>
            <a:off x="548640" y="4160520"/>
            <a:ext cx="3566160" cy="20574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/>
          <a:effectLst>
            <a:outerShdw blurRad="88900" dist="25400" dir="5400000" algn="bl" rotWithShape="0">
              <a:srgbClr val="1C2B3A">
                <a:alpha val="13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850392" y="4370832"/>
            <a:ext cx="713232" cy="713232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21" name="Image 3" descr="icons/wifi_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50244" y="4470684"/>
            <a:ext cx="513527" cy="513527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691640" y="4361688"/>
            <a:ext cx="22402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1024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+ IoT</a:t>
            </a:r>
            <a:endParaRPr lang="en-US" sz="1350" dirty="0"/>
          </a:p>
        </p:txBody>
      </p:sp>
      <p:sp>
        <p:nvSpPr>
          <p:cNvPr id="23" name="Text 17"/>
          <p:cNvSpPr/>
          <p:nvPr/>
        </p:nvSpPr>
        <p:spPr>
          <a:xfrm>
            <a:off x="822960" y="5212080"/>
            <a:ext cx="3017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C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Combining connected devices with AI for coordinated, system-wide intelligence.</a:t>
            </a:r>
            <a:endParaRPr lang="en-US" sz="1050" dirty="0"/>
          </a:p>
        </p:txBody>
      </p:sp>
      <p:sp>
        <p:nvSpPr>
          <p:cNvPr id="24" name="Shape 18"/>
          <p:cNvSpPr/>
          <p:nvPr/>
        </p:nvSpPr>
        <p:spPr>
          <a:xfrm>
            <a:off x="4343400" y="4160520"/>
            <a:ext cx="3566160" cy="20574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/>
          <a:effectLst>
            <a:outerShdw blurRad="88900" dist="25400" dir="5400000" algn="bl" rotWithShape="0">
              <a:srgbClr val="1C2B3A">
                <a:alpha val="13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4645152" y="4370832"/>
            <a:ext cx="713232" cy="713232"/>
          </a:xfrm>
          <a:prstGeom prst="ellipse">
            <a:avLst/>
          </a:prstGeom>
          <a:solidFill>
            <a:srgbClr val="10243E"/>
          </a:solidFill>
          <a:ln/>
        </p:spPr>
      </p:sp>
      <p:pic>
        <p:nvPicPr>
          <p:cNvPr id="26" name="Image 4" descr="icons/cubes_whit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45004" y="4470684"/>
            <a:ext cx="513527" cy="513527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5486400" y="4361688"/>
            <a:ext cx="22402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1024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Digital Twins</a:t>
            </a:r>
            <a:endParaRPr lang="en-US" sz="1350" dirty="0"/>
          </a:p>
        </p:txBody>
      </p:sp>
      <p:sp>
        <p:nvSpPr>
          <p:cNvPr id="28" name="Text 21"/>
          <p:cNvSpPr/>
          <p:nvPr/>
        </p:nvSpPr>
        <p:spPr>
          <a:xfrm>
            <a:off x="4617720" y="5212080"/>
            <a:ext cx="3017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C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Virtual replicas that simulate and optimize control strategies before deployment.</a:t>
            </a:r>
            <a:endParaRPr lang="en-US" sz="1050" dirty="0"/>
          </a:p>
        </p:txBody>
      </p:sp>
      <p:sp>
        <p:nvSpPr>
          <p:cNvPr id="29" name="Shape 22"/>
          <p:cNvSpPr/>
          <p:nvPr/>
        </p:nvSpPr>
        <p:spPr>
          <a:xfrm>
            <a:off x="8138160" y="4160520"/>
            <a:ext cx="3566160" cy="20574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/>
          <a:effectLst>
            <a:outerShdw blurRad="88900" dist="25400" dir="5400000" algn="bl" rotWithShape="0">
              <a:srgbClr val="1C2B3A">
                <a:alpha val="13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8439912" y="4370832"/>
            <a:ext cx="713232" cy="713232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31" name="Image 5" descr="icons/industry_whit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539764" y="4470684"/>
            <a:ext cx="513527" cy="513527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9281160" y="4361688"/>
            <a:ext cx="22402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1024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Smart Manufacturing</a:t>
            </a:r>
            <a:endParaRPr lang="en-US" sz="1350" dirty="0"/>
          </a:p>
        </p:txBody>
      </p:sp>
      <p:sp>
        <p:nvSpPr>
          <p:cNvPr id="33" name="Text 25"/>
          <p:cNvSpPr/>
          <p:nvPr/>
        </p:nvSpPr>
        <p:spPr>
          <a:xfrm>
            <a:off x="8412480" y="5212080"/>
            <a:ext cx="3017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C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AI-driven controllers coordinating entire production lines in real time.</a:t>
            </a:r>
            <a:endParaRPr lang="en-US" sz="1050" dirty="0"/>
          </a:p>
        </p:txBody>
      </p:sp>
      <p:sp>
        <p:nvSpPr>
          <p:cNvPr id="34" name="Text 26"/>
          <p:cNvSpPr/>
          <p:nvPr/>
        </p:nvSpPr>
        <p:spPr>
          <a:xfrm>
            <a:off x="11274552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303223799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48640" y="5029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3FE1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30352" y="868680"/>
            <a:ext cx="10515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Future of Control is Intelligent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731520" y="1947672"/>
            <a:ext cx="457200" cy="457200"/>
          </a:xfrm>
          <a:prstGeom prst="ellipse">
            <a:avLst/>
          </a:prstGeom>
          <a:solidFill>
            <a:srgbClr val="3FE1C0"/>
          </a:solidFill>
          <a:ln/>
        </p:spPr>
      </p:sp>
      <p:pic>
        <p:nvPicPr>
          <p:cNvPr id="6" name="Image 0" descr="icons/check_nav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5528" y="2011680"/>
            <a:ext cx="329184" cy="32918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17320" y="1920240"/>
            <a:ext cx="6583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EAF2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controllers add sensing and computation to classical control.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731520" y="2569464"/>
            <a:ext cx="457200" cy="457200"/>
          </a:xfrm>
          <a:prstGeom prst="ellipse">
            <a:avLst/>
          </a:prstGeom>
          <a:solidFill>
            <a:srgbClr val="3FE1C0"/>
          </a:solidFill>
          <a:ln/>
        </p:spPr>
      </p:sp>
      <p:pic>
        <p:nvPicPr>
          <p:cNvPr id="9" name="Image 1" descr="icons/check_nav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5528" y="2633472"/>
            <a:ext cx="329184" cy="329184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417320" y="2542032"/>
            <a:ext cx="6583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EAF2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contributes learning, prediction, and adaptive decision-making.</a:t>
            </a:r>
            <a:endParaRPr lang="en-US" sz="1350" dirty="0"/>
          </a:p>
        </p:txBody>
      </p:sp>
      <p:sp>
        <p:nvSpPr>
          <p:cNvPr id="11" name="Shape 7"/>
          <p:cNvSpPr/>
          <p:nvPr/>
        </p:nvSpPr>
        <p:spPr>
          <a:xfrm>
            <a:off x="731520" y="3191256"/>
            <a:ext cx="457200" cy="457200"/>
          </a:xfrm>
          <a:prstGeom prst="ellipse">
            <a:avLst/>
          </a:prstGeom>
          <a:solidFill>
            <a:srgbClr val="3FE1C0"/>
          </a:solidFill>
          <a:ln/>
        </p:spPr>
      </p:sp>
      <p:pic>
        <p:nvPicPr>
          <p:cNvPr id="12" name="Image 2" descr="icons/check_nav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5528" y="3255264"/>
            <a:ext cx="329184" cy="329184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417320" y="3163824"/>
            <a:ext cx="6583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EAF2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flows from sensors through AI to actuators — closed by feedback.</a:t>
            </a:r>
            <a:endParaRPr lang="en-US" sz="1350" dirty="0"/>
          </a:p>
        </p:txBody>
      </p:sp>
      <p:sp>
        <p:nvSpPr>
          <p:cNvPr id="14" name="Shape 9"/>
          <p:cNvSpPr/>
          <p:nvPr/>
        </p:nvSpPr>
        <p:spPr>
          <a:xfrm>
            <a:off x="731520" y="3813048"/>
            <a:ext cx="457200" cy="457200"/>
          </a:xfrm>
          <a:prstGeom prst="ellipse">
            <a:avLst/>
          </a:prstGeom>
          <a:solidFill>
            <a:srgbClr val="3FE1C0"/>
          </a:solidFill>
          <a:ln/>
        </p:spPr>
      </p:sp>
      <p:pic>
        <p:nvPicPr>
          <p:cNvPr id="15" name="Image 3" descr="icons/check_nav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5528" y="3877056"/>
            <a:ext cx="329184" cy="329184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1417320" y="3785616"/>
            <a:ext cx="6583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EAF2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Adoption spans homes, cities, industry, vehicles, farms, and healthcare.</a:t>
            </a:r>
            <a:endParaRPr lang="en-US" sz="1350" dirty="0"/>
          </a:p>
        </p:txBody>
      </p:sp>
      <p:sp>
        <p:nvSpPr>
          <p:cNvPr id="17" name="Shape 11"/>
          <p:cNvSpPr/>
          <p:nvPr/>
        </p:nvSpPr>
        <p:spPr>
          <a:xfrm>
            <a:off x="731520" y="4434840"/>
            <a:ext cx="457200" cy="457200"/>
          </a:xfrm>
          <a:prstGeom prst="ellipse">
            <a:avLst/>
          </a:prstGeom>
          <a:solidFill>
            <a:srgbClr val="3FE1C0"/>
          </a:solidFill>
          <a:ln/>
        </p:spPr>
      </p:sp>
      <p:pic>
        <p:nvPicPr>
          <p:cNvPr id="18" name="Image 4" descr="icons/check_nav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5528" y="4498848"/>
            <a:ext cx="329184" cy="329184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1417320" y="4407408"/>
            <a:ext cx="6583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EAF2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gains in efficiency come with real costs in data, compute, and trust.</a:t>
            </a:r>
            <a:endParaRPr lang="en-US" sz="1350" dirty="0"/>
          </a:p>
        </p:txBody>
      </p:sp>
      <p:sp>
        <p:nvSpPr>
          <p:cNvPr id="20" name="Shape 13"/>
          <p:cNvSpPr/>
          <p:nvPr/>
        </p:nvSpPr>
        <p:spPr>
          <a:xfrm>
            <a:off x="8412480" y="1920240"/>
            <a:ext cx="3246120" cy="3794760"/>
          </a:xfrm>
          <a:prstGeom prst="roundRect">
            <a:avLst>
              <a:gd name="adj" fmla="val 3944"/>
            </a:avLst>
          </a:prstGeom>
          <a:solidFill>
            <a:srgbClr val="16324F"/>
          </a:solidFill>
          <a:ln w="12700">
            <a:solidFill>
              <a:srgbClr val="27496B"/>
            </a:solidFill>
            <a:prstDash val="solid"/>
          </a:ln>
        </p:spPr>
      </p:sp>
      <p:sp>
        <p:nvSpPr>
          <p:cNvPr id="21" name="Shape 14"/>
          <p:cNvSpPr/>
          <p:nvPr/>
        </p:nvSpPr>
        <p:spPr>
          <a:xfrm>
            <a:off x="9509760" y="2125980"/>
            <a:ext cx="1051560" cy="1051560"/>
          </a:xfrm>
          <a:prstGeom prst="ellipse">
            <a:avLst/>
          </a:prstGeom>
          <a:solidFill>
            <a:srgbClr val="3FE1C0"/>
          </a:solidFill>
          <a:ln/>
        </p:spPr>
      </p:sp>
      <p:pic>
        <p:nvPicPr>
          <p:cNvPr id="22" name="Image 5" descr="icons/rocket_nav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56978" y="2273198"/>
            <a:ext cx="757123" cy="757123"/>
          </a:xfrm>
          <a:prstGeom prst="rect">
            <a:avLst/>
          </a:prstGeom>
        </p:spPr>
      </p:pic>
      <p:sp>
        <p:nvSpPr>
          <p:cNvPr id="23" name="Text 15"/>
          <p:cNvSpPr/>
          <p:nvPr/>
        </p:nvSpPr>
        <p:spPr>
          <a:xfrm>
            <a:off x="8641080" y="3429000"/>
            <a:ext cx="2788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It Matters</a:t>
            </a:r>
            <a:endParaRPr lang="en-US" sz="1500" dirty="0"/>
          </a:p>
        </p:txBody>
      </p:sp>
      <p:sp>
        <p:nvSpPr>
          <p:cNvPr id="24" name="Text 16"/>
          <p:cNvSpPr/>
          <p:nvPr/>
        </p:nvSpPr>
        <p:spPr>
          <a:xfrm>
            <a:off x="8641080" y="3840480"/>
            <a:ext cx="278892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1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is what turns a controller from a fixed rule-follower into a system that senses, predicts, and continuously improves — the foundation for the next generation of automation.</a:t>
            </a:r>
            <a:endParaRPr lang="en-US" sz="1150" dirty="0"/>
          </a:p>
        </p:txBody>
      </p:sp>
      <p:sp>
        <p:nvSpPr>
          <p:cNvPr id="25" name="Text 17"/>
          <p:cNvSpPr/>
          <p:nvPr/>
        </p:nvSpPr>
        <p:spPr>
          <a:xfrm>
            <a:off x="548640" y="612648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3FE1C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1800" dirty="0"/>
          </a:p>
        </p:txBody>
      </p:sp>
      <p:sp>
        <p:nvSpPr>
          <p:cNvPr id="26" name="Text 18"/>
          <p:cNvSpPr/>
          <p:nvPr/>
        </p:nvSpPr>
        <p:spPr>
          <a:xfrm>
            <a:off x="11274552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FB7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30631659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96141" y="1045030"/>
            <a:ext cx="8169729" cy="4743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000844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1049</Words>
  <Application>Microsoft Office PowerPoint</Application>
  <PresentationFormat>Widescreen</PresentationFormat>
  <Paragraphs>213</Paragraphs>
  <Slides>14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ADMIN</cp:lastModifiedBy>
  <cp:revision>3</cp:revision>
  <dcterms:created xsi:type="dcterms:W3CDTF">2026-08-29T07:53:35Z</dcterms:created>
  <dcterms:modified xsi:type="dcterms:W3CDTF">2026-09-01T03:41:17Z</dcterms:modified>
</cp:coreProperties>
</file>